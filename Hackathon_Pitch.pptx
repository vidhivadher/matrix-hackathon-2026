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Poppins"/>
      <p:regular r:id="rId23"/>
      <p:bold r:id="rId24"/>
      <p:italic r:id="rId25"/>
      <p:boldItalic r:id="rId26"/>
    </p:embeddedFont>
    <p:embeddedFont>
      <p:font typeface="Noto Sans Symbols"/>
      <p:regular r:id="rId27"/>
      <p:bold r:id="rId28"/>
    </p:embeddedFont>
    <p:embeddedFont>
      <p:font typeface="Lexend"/>
      <p:regular r:id="rId29"/>
      <p:bold r:id="rId30"/>
    </p:embeddedFont>
    <p:embeddedFont>
      <p:font typeface="IBM Plex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hA7C/c57dkbwjZGcvv33M3KpdY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NotoSansSymbols-bold.fntdata"/><Relationship Id="rId27" Type="http://schemas.openxmlformats.org/officeDocument/2006/relationships/font" Target="fonts/NotoSansSymbol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exen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BMPlexMono-regular.fntdata"/><Relationship Id="rId30" Type="http://schemas.openxmlformats.org/officeDocument/2006/relationships/font" Target="fonts/Lexend-bold.fntdata"/><Relationship Id="rId11" Type="http://schemas.openxmlformats.org/officeDocument/2006/relationships/slide" Target="slides/slide6.xml"/><Relationship Id="rId33" Type="http://schemas.openxmlformats.org/officeDocument/2006/relationships/font" Target="fonts/IBMPlexMono-italic.fntdata"/><Relationship Id="rId10" Type="http://schemas.openxmlformats.org/officeDocument/2006/relationships/slide" Target="slides/slide5.xml"/><Relationship Id="rId32" Type="http://schemas.openxmlformats.org/officeDocument/2006/relationships/font" Target="fonts/IBMPlexMono-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IBMPlexMon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“Tracking people across multiple camera feeds is a major challenge in surveillance.</a:t>
            </a:r>
            <a:endParaRPr/>
          </a:p>
          <a:p>
            <a:pPr indent="0" lvl="0" marL="0" rtl="0" algn="l">
              <a:lnSpc>
                <a:spcPct val="115000"/>
              </a:lnSpc>
              <a:spcBef>
                <a:spcPts val="1200"/>
              </a:spcBef>
              <a:spcAft>
                <a:spcPts val="0"/>
              </a:spcAft>
              <a:buClr>
                <a:schemeClr val="dk1"/>
              </a:buClr>
              <a:buSzPts val="1100"/>
              <a:buFont typeface="Arial"/>
              <a:buNone/>
            </a:pPr>
            <a:r>
              <a:rPr lang="en-US"/>
              <a:t>When a person moves from one camera to another, operators often lose visibility, breaking tracking continuity.</a:t>
            </a:r>
            <a:endParaRPr/>
          </a:p>
          <a:p>
            <a:pPr indent="0" lvl="0" marL="0" rtl="0" algn="l">
              <a:lnSpc>
                <a:spcPct val="115000"/>
              </a:lnSpc>
              <a:spcBef>
                <a:spcPts val="1200"/>
              </a:spcBef>
              <a:spcAft>
                <a:spcPts val="0"/>
              </a:spcAft>
              <a:buClr>
                <a:schemeClr val="dk1"/>
              </a:buClr>
              <a:buSzPts val="1100"/>
              <a:buFont typeface="Arial"/>
              <a:buNone/>
            </a:pPr>
            <a:r>
              <a:rPr lang="en-US"/>
              <a:t>Manual monitoring of multiple feeds is inefficient, error-prone, and doesn’t scale well.</a:t>
            </a:r>
            <a:endParaRPr/>
          </a:p>
          <a:p>
            <a:pPr indent="0" lvl="0" marL="0" rtl="0" algn="l">
              <a:lnSpc>
                <a:spcPct val="115000"/>
              </a:lnSpc>
              <a:spcBef>
                <a:spcPts val="1200"/>
              </a:spcBef>
              <a:spcAft>
                <a:spcPts val="0"/>
              </a:spcAft>
              <a:buClr>
                <a:schemeClr val="dk1"/>
              </a:buClr>
              <a:buSzPts val="1100"/>
              <a:buFont typeface="Arial"/>
              <a:buNone/>
            </a:pPr>
            <a:r>
              <a:rPr lang="en-US"/>
              <a:t>This lack of automation leads to delayed responses in critical security situations.</a:t>
            </a:r>
            <a:endParaRPr/>
          </a:p>
          <a:p>
            <a:pPr indent="0" lvl="0" marL="0" rtl="0" algn="l">
              <a:lnSpc>
                <a:spcPct val="115000"/>
              </a:lnSpc>
              <a:spcBef>
                <a:spcPts val="1200"/>
              </a:spcBef>
              <a:spcAft>
                <a:spcPts val="0"/>
              </a:spcAft>
              <a:buClr>
                <a:schemeClr val="dk1"/>
              </a:buClr>
              <a:buSzPts val="1100"/>
              <a:buFont typeface="Arial"/>
              <a:buNone/>
            </a:pPr>
            <a:r>
              <a:rPr lang="en-US"/>
              <a:t>This problem is especially relevant in environments like smart cities, airports, malls, and large security operations.</a:t>
            </a:r>
            <a:endParaRPr/>
          </a:p>
          <a:p>
            <a:pPr indent="0" lvl="0" marL="0" rtl="0" algn="l">
              <a:spcBef>
                <a:spcPts val="1200"/>
              </a:spcBef>
              <a:spcAft>
                <a:spcPts val="0"/>
              </a:spcAft>
              <a:buNone/>
            </a:pPr>
            <a:r>
              <a:t/>
            </a:r>
            <a:endParaRPr/>
          </a:p>
        </p:txBody>
      </p:sp>
      <p:sp>
        <p:nvSpPr>
          <p:cNvPr id="162" name="Google Shape;16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e6d78a5f5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We developed a real-time, AI-powered multi-camera tracking system.</a:t>
            </a:r>
            <a:endParaRPr/>
          </a:p>
          <a:p>
            <a:pPr indent="0" lvl="0" marL="0" rtl="0" algn="l">
              <a:lnSpc>
                <a:spcPct val="115000"/>
              </a:lnSpc>
              <a:spcBef>
                <a:spcPts val="1200"/>
              </a:spcBef>
              <a:spcAft>
                <a:spcPts val="0"/>
              </a:spcAft>
              <a:buClr>
                <a:schemeClr val="dk1"/>
              </a:buClr>
              <a:buSzPts val="1100"/>
              <a:buFont typeface="Arial"/>
              <a:buNone/>
            </a:pPr>
            <a:r>
              <a:rPr lang="en-US"/>
              <a:t>The system detects and tracks multiple people across camera feeds, allowing an operator to select a target with a simple click.</a:t>
            </a:r>
            <a:endParaRPr/>
          </a:p>
          <a:p>
            <a:pPr indent="0" lvl="0" marL="0" rtl="0" algn="l">
              <a:lnSpc>
                <a:spcPct val="115000"/>
              </a:lnSpc>
              <a:spcBef>
                <a:spcPts val="1200"/>
              </a:spcBef>
              <a:spcAft>
                <a:spcPts val="0"/>
              </a:spcAft>
              <a:buClr>
                <a:schemeClr val="dk1"/>
              </a:buClr>
              <a:buSzPts val="1100"/>
              <a:buFont typeface="Arial"/>
              <a:buNone/>
            </a:pPr>
            <a:r>
              <a:rPr lang="en-US"/>
              <a:t>Once selected, the system continuously tracks that individual in real time.</a:t>
            </a:r>
            <a:endParaRPr/>
          </a:p>
          <a:p>
            <a:pPr indent="0" lvl="0" marL="0" rtl="0" algn="l">
              <a:lnSpc>
                <a:spcPct val="115000"/>
              </a:lnSpc>
              <a:spcBef>
                <a:spcPts val="1200"/>
              </a:spcBef>
              <a:spcAft>
                <a:spcPts val="0"/>
              </a:spcAft>
              <a:buClr>
                <a:schemeClr val="dk1"/>
              </a:buClr>
              <a:buSzPts val="1100"/>
              <a:buFont typeface="Arial"/>
              <a:buNone/>
            </a:pPr>
            <a:r>
              <a:rPr lang="en-US"/>
              <a:t>PTZ cameras automatically adjust their pan and tilt to keep the target centered.</a:t>
            </a:r>
            <a:endParaRPr/>
          </a:p>
          <a:p>
            <a:pPr indent="0" lvl="0" marL="0" rtl="0" algn="l">
              <a:lnSpc>
                <a:spcPct val="115000"/>
              </a:lnSpc>
              <a:spcBef>
                <a:spcPts val="1200"/>
              </a:spcBef>
              <a:spcAft>
                <a:spcPts val="0"/>
              </a:spcAft>
              <a:buClr>
                <a:schemeClr val="dk1"/>
              </a:buClr>
              <a:buSzPts val="1100"/>
              <a:buFont typeface="Arial"/>
              <a:buNone/>
            </a:pPr>
            <a:r>
              <a:rPr lang="en-US"/>
              <a:t>To ensure stable tracking, the system uses smoothing, jitter reduction, and dead-zone logic.</a:t>
            </a:r>
            <a:endParaRPr/>
          </a:p>
          <a:p>
            <a:pPr indent="0" lvl="0" marL="0" rtl="0" algn="l">
              <a:spcBef>
                <a:spcPts val="1200"/>
              </a:spcBef>
              <a:spcAft>
                <a:spcPts val="0"/>
              </a:spcAft>
              <a:buNone/>
            </a:pPr>
            <a:r>
              <a:t/>
            </a:r>
            <a:endParaRPr/>
          </a:p>
        </p:txBody>
      </p:sp>
      <p:sp>
        <p:nvSpPr>
          <p:cNvPr id="169" name="Google Shape;169;g3e6d78a5f59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6d78a5f5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The system processes multiple RTSP camera streams in parallel, with support for ONVIF-enabled cameras.</a:t>
            </a:r>
            <a:endParaRPr/>
          </a:p>
          <a:p>
            <a:pPr indent="0" lvl="0" marL="0" rtl="0" algn="l">
              <a:lnSpc>
                <a:spcPct val="115000"/>
              </a:lnSpc>
              <a:spcBef>
                <a:spcPts val="1200"/>
              </a:spcBef>
              <a:spcAft>
                <a:spcPts val="0"/>
              </a:spcAft>
              <a:buClr>
                <a:schemeClr val="dk1"/>
              </a:buClr>
              <a:buSzPts val="1100"/>
              <a:buFont typeface="Arial"/>
              <a:buNone/>
            </a:pPr>
            <a:r>
              <a:rPr lang="en-US"/>
              <a:t>Each feed is handled using threaded frame readers to ensure low-latency performance.</a:t>
            </a:r>
            <a:endParaRPr/>
          </a:p>
          <a:p>
            <a:pPr indent="0" lvl="0" marL="0" rtl="0" algn="l">
              <a:lnSpc>
                <a:spcPct val="115000"/>
              </a:lnSpc>
              <a:spcBef>
                <a:spcPts val="1200"/>
              </a:spcBef>
              <a:spcAft>
                <a:spcPts val="0"/>
              </a:spcAft>
              <a:buClr>
                <a:schemeClr val="dk1"/>
              </a:buClr>
              <a:buSzPts val="1100"/>
              <a:buFont typeface="Arial"/>
              <a:buNone/>
            </a:pPr>
            <a:r>
              <a:rPr lang="en-US"/>
              <a:t>We use YOLOv8 for real-time person detection, and DeepSORT to track individuals with unique IDs.</a:t>
            </a:r>
            <a:endParaRPr/>
          </a:p>
          <a:p>
            <a:pPr indent="0" lvl="0" marL="0" rtl="0" algn="l">
              <a:lnSpc>
                <a:spcPct val="115000"/>
              </a:lnSpc>
              <a:spcBef>
                <a:spcPts val="1200"/>
              </a:spcBef>
              <a:spcAft>
                <a:spcPts val="0"/>
              </a:spcAft>
              <a:buClr>
                <a:schemeClr val="dk1"/>
              </a:buClr>
              <a:buSzPts val="1100"/>
              <a:buFont typeface="Arial"/>
              <a:buNone/>
            </a:pPr>
            <a:r>
              <a:rPr lang="en-US"/>
              <a:t>An interactive interface allows the operator to select a target person.</a:t>
            </a:r>
            <a:endParaRPr/>
          </a:p>
          <a:p>
            <a:pPr indent="0" lvl="0" marL="0" rtl="0" algn="l">
              <a:lnSpc>
                <a:spcPct val="115000"/>
              </a:lnSpc>
              <a:spcBef>
                <a:spcPts val="1200"/>
              </a:spcBef>
              <a:spcAft>
                <a:spcPts val="0"/>
              </a:spcAft>
              <a:buClr>
                <a:schemeClr val="dk1"/>
              </a:buClr>
              <a:buSzPts val="1100"/>
              <a:buFont typeface="Arial"/>
              <a:buNone/>
            </a:pPr>
            <a:r>
              <a:rPr lang="en-US"/>
              <a:t>Once selected, the PTZ control module automatically adjusts the camera to follow the target.</a:t>
            </a:r>
            <a:endParaRPr/>
          </a:p>
          <a:p>
            <a:pPr indent="0" lvl="0" marL="0" rtl="0" algn="l">
              <a:lnSpc>
                <a:spcPct val="115000"/>
              </a:lnSpc>
              <a:spcBef>
                <a:spcPts val="1200"/>
              </a:spcBef>
              <a:spcAft>
                <a:spcPts val="0"/>
              </a:spcAft>
              <a:buClr>
                <a:schemeClr val="dk1"/>
              </a:buClr>
              <a:buSzPts val="1100"/>
              <a:buFont typeface="Arial"/>
              <a:buNone/>
            </a:pPr>
            <a:r>
              <a:rPr lang="en-US"/>
              <a:t>All outputs are visualized in real time with bounding boxes and tracking IDs.”</a:t>
            </a:r>
            <a:endParaRPr/>
          </a:p>
          <a:p>
            <a:pPr indent="0" lvl="0" marL="0" rtl="0" algn="l">
              <a:spcBef>
                <a:spcPts val="1200"/>
              </a:spcBef>
              <a:spcAft>
                <a:spcPts val="0"/>
              </a:spcAft>
              <a:buNone/>
            </a:pPr>
            <a:r>
              <a:t/>
            </a:r>
            <a:endParaRPr/>
          </a:p>
        </p:txBody>
      </p:sp>
      <p:sp>
        <p:nvSpPr>
          <p:cNvPr id="176" name="Google Shape;176;g3e6d78a5f59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6d78a5f5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We use YOLOv11 for real-time person detection, with GPU acceleration when available and CPU fallback.</a:t>
            </a:r>
            <a:endParaRPr/>
          </a:p>
          <a:p>
            <a:pPr indent="0" lvl="0" marL="0" rtl="0" algn="l">
              <a:lnSpc>
                <a:spcPct val="115000"/>
              </a:lnSpc>
              <a:spcBef>
                <a:spcPts val="1200"/>
              </a:spcBef>
              <a:spcAft>
                <a:spcPts val="0"/>
              </a:spcAft>
              <a:buClr>
                <a:schemeClr val="dk1"/>
              </a:buClr>
              <a:buSzPts val="1100"/>
              <a:buFont typeface="Arial"/>
              <a:buNone/>
            </a:pPr>
            <a:r>
              <a:rPr lang="en-US"/>
              <a:t>Each frame is processed to detect only human subjects, with confidence thresholding to filter out low-quality detections.</a:t>
            </a:r>
            <a:endParaRPr/>
          </a:p>
          <a:p>
            <a:pPr indent="0" lvl="0" marL="0" rtl="0" algn="l">
              <a:lnSpc>
                <a:spcPct val="115000"/>
              </a:lnSpc>
              <a:spcBef>
                <a:spcPts val="1200"/>
              </a:spcBef>
              <a:spcAft>
                <a:spcPts val="0"/>
              </a:spcAft>
              <a:buClr>
                <a:schemeClr val="dk1"/>
              </a:buClr>
              <a:buSzPts val="1100"/>
              <a:buFont typeface="Arial"/>
              <a:buNone/>
            </a:pPr>
            <a:r>
              <a:rPr lang="en-US"/>
              <a:t>The model outputs precise bounding boxes for each person detected.</a:t>
            </a:r>
            <a:endParaRPr/>
          </a:p>
          <a:p>
            <a:pPr indent="0" lvl="0" marL="0" rtl="0" algn="l">
              <a:lnSpc>
                <a:spcPct val="115000"/>
              </a:lnSpc>
              <a:spcBef>
                <a:spcPts val="1200"/>
              </a:spcBef>
              <a:spcAft>
                <a:spcPts val="0"/>
              </a:spcAft>
              <a:buClr>
                <a:schemeClr val="dk1"/>
              </a:buClr>
              <a:buSzPts val="1100"/>
              <a:buFont typeface="Arial"/>
              <a:buNone/>
            </a:pPr>
            <a:r>
              <a:rPr lang="en-US"/>
              <a:t>These detections are then passed directly to DeepSORT for tracking.</a:t>
            </a:r>
            <a:endParaRPr/>
          </a:p>
          <a:p>
            <a:pPr indent="0" lvl="0" marL="0" rtl="0" algn="l">
              <a:lnSpc>
                <a:spcPct val="115000"/>
              </a:lnSpc>
              <a:spcBef>
                <a:spcPts val="1200"/>
              </a:spcBef>
              <a:spcAft>
                <a:spcPts val="0"/>
              </a:spcAft>
              <a:buClr>
                <a:schemeClr val="dk1"/>
              </a:buClr>
              <a:buSzPts val="1100"/>
              <a:buFont typeface="Arial"/>
              <a:buNone/>
            </a:pPr>
            <a:r>
              <a:rPr lang="en-US"/>
              <a:t>The entire pipeline is optimized for low-latency performance, enabling real-time processing across multiple camera streams.</a:t>
            </a:r>
            <a:endParaRPr/>
          </a:p>
          <a:p>
            <a:pPr indent="0" lvl="0" marL="0" rtl="0" algn="l">
              <a:spcBef>
                <a:spcPts val="1200"/>
              </a:spcBef>
              <a:spcAft>
                <a:spcPts val="0"/>
              </a:spcAft>
              <a:buNone/>
            </a:pPr>
            <a:r>
              <a:t/>
            </a:r>
            <a:endParaRPr/>
          </a:p>
        </p:txBody>
      </p:sp>
      <p:sp>
        <p:nvSpPr>
          <p:cNvPr id="183" name="Google Shape;183;g3e6d78a5f59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6d78a5f5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DeepSORT enables real-time multi-object tracking by combining motion (Kalman Filter) and appearance features (cosine similarity). It assigns unique IDs to each person and maintains them across frames, even during occlusion or brief loss. The system tracks multiple individuals per camera and integrates with detection outputs, supporting downstream tasks like global ReID and PTZ camera control.</a:t>
            </a:r>
            <a:endParaRPr/>
          </a:p>
        </p:txBody>
      </p:sp>
      <p:sp>
        <p:nvSpPr>
          <p:cNvPr id="190" name="Google Shape;190;g3e6d78a5f59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6d78a5f5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500"/>
              </a:spcBef>
              <a:spcAft>
                <a:spcPts val="1500"/>
              </a:spcAft>
              <a:buNone/>
            </a:pPr>
            <a:r>
              <a:rPr lang="en-US"/>
              <a:t>Users can click on any detected person in the video feed to select a target. The chosen individual becomes the active tracking subject and is visually highlighted. This enables dynamic, operator-driven target selection in real time.</a:t>
            </a:r>
            <a:endParaRPr/>
          </a:p>
        </p:txBody>
      </p:sp>
      <p:sp>
        <p:nvSpPr>
          <p:cNvPr id="197" name="Google Shape;197;g3e6d78a5f59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e6d78a5f5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500"/>
              </a:spcBef>
              <a:spcAft>
                <a:spcPts val="1500"/>
              </a:spcAft>
              <a:buNone/>
            </a:pPr>
            <a:r>
              <a:rPr lang="en-US"/>
              <a:t>Supports ONVIF-compatible PTZ cameras to automatically pan and tilt for target tracking. Uses smoothing and dead-zone logic to minimize jitter and unnecessary movements, ensuring stable and smooth tracking.</a:t>
            </a:r>
            <a:endParaRPr/>
          </a:p>
        </p:txBody>
      </p:sp>
      <p:sp>
        <p:nvSpPr>
          <p:cNvPr id="204" name="Google Shape;204;g3e6d78a5f59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e6d78a5f5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500"/>
              </a:spcBef>
              <a:spcAft>
                <a:spcPts val="1500"/>
              </a:spcAft>
              <a:buNone/>
            </a:pPr>
            <a:r>
              <a:rPr lang="en-US"/>
              <a:t>Displays all camera feeds using OpenCV windows with bounding boxes and unique IDs for each person. The selected target is clearly highlighted, providing real-time feedback for effective monitoring and decision-making.Thank you — I’ll now hand over the presentation to my colleague.</a:t>
            </a:r>
            <a:endParaRPr/>
          </a:p>
        </p:txBody>
      </p:sp>
      <p:sp>
        <p:nvSpPr>
          <p:cNvPr id="211" name="Google Shape;211;g3e6d78a5f59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6d78a5f5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This is the overall system pipeline.</a:t>
            </a:r>
            <a:endParaRPr/>
          </a:p>
          <a:p>
            <a:pPr indent="0" lvl="0" marL="0" rtl="0" algn="l">
              <a:lnSpc>
                <a:spcPct val="115000"/>
              </a:lnSpc>
              <a:spcBef>
                <a:spcPts val="1200"/>
              </a:spcBef>
              <a:spcAft>
                <a:spcPts val="0"/>
              </a:spcAft>
              <a:buClr>
                <a:schemeClr val="dk1"/>
              </a:buClr>
              <a:buSzPts val="1100"/>
              <a:buFont typeface="Arial"/>
              <a:buNone/>
            </a:pPr>
            <a:r>
              <a:rPr lang="en-US"/>
              <a:t>We start with multiple RTSP camera streams as input.</a:t>
            </a:r>
            <a:endParaRPr/>
          </a:p>
          <a:p>
            <a:pPr indent="0" lvl="0" marL="0" rtl="0" algn="l">
              <a:lnSpc>
                <a:spcPct val="115000"/>
              </a:lnSpc>
              <a:spcBef>
                <a:spcPts val="1200"/>
              </a:spcBef>
              <a:spcAft>
                <a:spcPts val="0"/>
              </a:spcAft>
              <a:buClr>
                <a:schemeClr val="dk1"/>
              </a:buClr>
              <a:buSzPts val="1100"/>
              <a:buFont typeface="Arial"/>
              <a:buNone/>
            </a:pPr>
            <a:r>
              <a:rPr lang="en-US"/>
              <a:t>Frames are captured using threaded frame readers to ensure low-latency processing.</a:t>
            </a:r>
            <a:endParaRPr/>
          </a:p>
          <a:p>
            <a:pPr indent="0" lvl="0" marL="0" rtl="0" algn="l">
              <a:lnSpc>
                <a:spcPct val="115000"/>
              </a:lnSpc>
              <a:spcBef>
                <a:spcPts val="1200"/>
              </a:spcBef>
              <a:spcAft>
                <a:spcPts val="0"/>
              </a:spcAft>
              <a:buClr>
                <a:schemeClr val="dk1"/>
              </a:buClr>
              <a:buSzPts val="1100"/>
              <a:buFont typeface="Arial"/>
              <a:buNone/>
            </a:pPr>
            <a:r>
              <a:rPr lang="en-US"/>
              <a:t>These frames are then passed to YOLO for person detection.</a:t>
            </a:r>
            <a:endParaRPr/>
          </a:p>
          <a:p>
            <a:pPr indent="0" lvl="0" marL="0" rtl="0" algn="l">
              <a:lnSpc>
                <a:spcPct val="115000"/>
              </a:lnSpc>
              <a:spcBef>
                <a:spcPts val="1200"/>
              </a:spcBef>
              <a:spcAft>
                <a:spcPts val="0"/>
              </a:spcAft>
              <a:buClr>
                <a:schemeClr val="dk1"/>
              </a:buClr>
              <a:buSzPts val="1100"/>
              <a:buFont typeface="Arial"/>
              <a:buNone/>
            </a:pPr>
            <a:r>
              <a:rPr lang="en-US"/>
              <a:t>The detected individuals are tracked using DeepSORT, which assigns and maintains unique IDs.</a:t>
            </a:r>
            <a:endParaRPr/>
          </a:p>
          <a:p>
            <a:pPr indent="0" lvl="0" marL="0" rtl="0" algn="l">
              <a:lnSpc>
                <a:spcPct val="115000"/>
              </a:lnSpc>
              <a:spcBef>
                <a:spcPts val="1200"/>
              </a:spcBef>
              <a:spcAft>
                <a:spcPts val="0"/>
              </a:spcAft>
              <a:buClr>
                <a:schemeClr val="dk1"/>
              </a:buClr>
              <a:buSzPts val="1100"/>
              <a:buFont typeface="Arial"/>
              <a:buNone/>
            </a:pPr>
            <a:r>
              <a:rPr lang="en-US"/>
              <a:t>The operator can then select a target person through the user interface.</a:t>
            </a:r>
            <a:endParaRPr/>
          </a:p>
          <a:p>
            <a:pPr indent="0" lvl="0" marL="0" rtl="0" algn="l">
              <a:lnSpc>
                <a:spcPct val="115000"/>
              </a:lnSpc>
              <a:spcBef>
                <a:spcPts val="1200"/>
              </a:spcBef>
              <a:spcAft>
                <a:spcPts val="0"/>
              </a:spcAft>
              <a:buClr>
                <a:schemeClr val="dk1"/>
              </a:buClr>
              <a:buSzPts val="1100"/>
              <a:buFont typeface="Arial"/>
              <a:buNone/>
            </a:pPr>
            <a:r>
              <a:rPr lang="en-US"/>
              <a:t>Based on this selection, the PTZ control logic adjusts the camera to follow the target.</a:t>
            </a:r>
            <a:endParaRPr/>
          </a:p>
          <a:p>
            <a:pPr indent="0" lvl="0" marL="0" rtl="0" algn="l">
              <a:lnSpc>
                <a:spcPct val="115000"/>
              </a:lnSpc>
              <a:spcBef>
                <a:spcPts val="1200"/>
              </a:spcBef>
              <a:spcAft>
                <a:spcPts val="0"/>
              </a:spcAft>
              <a:buClr>
                <a:schemeClr val="dk1"/>
              </a:buClr>
              <a:buSzPts val="1100"/>
              <a:buFont typeface="Arial"/>
              <a:buNone/>
            </a:pPr>
            <a:r>
              <a:rPr lang="en-US"/>
              <a:t>Finally, the output is displayed in real time using OpenCV, with bounding boxes and tracking IDs.</a:t>
            </a:r>
            <a:endParaRPr/>
          </a:p>
          <a:p>
            <a:pPr indent="0" lvl="0" marL="0" rtl="0" algn="l">
              <a:spcBef>
                <a:spcPts val="1200"/>
              </a:spcBef>
              <a:spcAft>
                <a:spcPts val="0"/>
              </a:spcAft>
              <a:buNone/>
            </a:pPr>
            <a:r>
              <a:t/>
            </a:r>
            <a:endParaRPr/>
          </a:p>
        </p:txBody>
      </p:sp>
      <p:sp>
        <p:nvSpPr>
          <p:cNvPr id="218" name="Google Shape;218;g3e6d78a5f59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e6d78a5f59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For the technology stack, we used Python as the core development language.</a:t>
            </a:r>
            <a:endParaRPr/>
          </a:p>
          <a:p>
            <a:pPr indent="0" lvl="0" marL="0" rtl="0" algn="l">
              <a:lnSpc>
                <a:spcPct val="115000"/>
              </a:lnSpc>
              <a:spcBef>
                <a:spcPts val="1200"/>
              </a:spcBef>
              <a:spcAft>
                <a:spcPts val="0"/>
              </a:spcAft>
              <a:buClr>
                <a:schemeClr val="dk1"/>
              </a:buClr>
              <a:buSzPts val="1100"/>
              <a:buFont typeface="Arial"/>
              <a:buNone/>
            </a:pPr>
            <a:r>
              <a:rPr lang="en-US"/>
              <a:t>OpenCV handles video processing and real-time visualization.</a:t>
            </a:r>
            <a:endParaRPr/>
          </a:p>
          <a:p>
            <a:pPr indent="0" lvl="0" marL="0" rtl="0" algn="l">
              <a:lnSpc>
                <a:spcPct val="115000"/>
              </a:lnSpc>
              <a:spcBef>
                <a:spcPts val="1200"/>
              </a:spcBef>
              <a:spcAft>
                <a:spcPts val="0"/>
              </a:spcAft>
              <a:buClr>
                <a:schemeClr val="dk1"/>
              </a:buClr>
              <a:buSzPts val="1100"/>
              <a:buFont typeface="Arial"/>
              <a:buNone/>
            </a:pPr>
            <a:r>
              <a:rPr lang="en-US"/>
              <a:t>YOLOv11 is used for person detection, while DeepSORT enables multi-object tracking.</a:t>
            </a:r>
            <a:endParaRPr/>
          </a:p>
          <a:p>
            <a:pPr indent="0" lvl="0" marL="0" rtl="0" algn="l">
              <a:lnSpc>
                <a:spcPct val="115000"/>
              </a:lnSpc>
              <a:spcBef>
                <a:spcPts val="1200"/>
              </a:spcBef>
              <a:spcAft>
                <a:spcPts val="0"/>
              </a:spcAft>
              <a:buClr>
                <a:schemeClr val="dk1"/>
              </a:buClr>
              <a:buSzPts val="1100"/>
              <a:buFont typeface="Arial"/>
              <a:buNone/>
            </a:pPr>
            <a:r>
              <a:rPr lang="en-US"/>
              <a:t>ONVIF is used to control PTZ cameras for automated tracking.</a:t>
            </a:r>
            <a:endParaRPr/>
          </a:p>
          <a:p>
            <a:pPr indent="0" lvl="0" marL="0" rtl="0" algn="l">
              <a:lnSpc>
                <a:spcPct val="115000"/>
              </a:lnSpc>
              <a:spcBef>
                <a:spcPts val="1200"/>
              </a:spcBef>
              <a:spcAft>
                <a:spcPts val="0"/>
              </a:spcAft>
              <a:buClr>
                <a:schemeClr val="dk1"/>
              </a:buClr>
              <a:buSzPts val="1100"/>
              <a:buFont typeface="Arial"/>
              <a:buNone/>
            </a:pPr>
            <a:r>
              <a:rPr lang="en-US"/>
              <a:t>NumPy supports efficient numerical computations and optimizations within the pipeline.</a:t>
            </a:r>
            <a:endParaRPr/>
          </a:p>
          <a:p>
            <a:pPr indent="0" lvl="0" marL="0" rtl="0" algn="l">
              <a:spcBef>
                <a:spcPts val="1200"/>
              </a:spcBef>
              <a:spcAft>
                <a:spcPts val="0"/>
              </a:spcAft>
              <a:buNone/>
            </a:pPr>
            <a:r>
              <a:t/>
            </a:r>
            <a:endParaRPr/>
          </a:p>
        </p:txBody>
      </p:sp>
      <p:sp>
        <p:nvSpPr>
          <p:cNvPr id="252" name="Google Shape;252;g3e6d78a5f59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e6d78a5f59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Frames are captured from multiple RTSP streams using threaded readers to ensure low-latency processing.</a:t>
            </a:r>
            <a:endParaRPr/>
          </a:p>
          <a:p>
            <a:pPr indent="0" lvl="0" marL="0" rtl="0" algn="l">
              <a:lnSpc>
                <a:spcPct val="115000"/>
              </a:lnSpc>
              <a:spcBef>
                <a:spcPts val="1200"/>
              </a:spcBef>
              <a:spcAft>
                <a:spcPts val="0"/>
              </a:spcAft>
              <a:buClr>
                <a:schemeClr val="dk1"/>
              </a:buClr>
              <a:buSzPts val="1100"/>
              <a:buFont typeface="Arial"/>
              <a:buNone/>
            </a:pPr>
            <a:r>
              <a:rPr lang="en-US"/>
              <a:t>YOLOv8 detects people in each frame, with confidence filtering to improve accuracy.</a:t>
            </a:r>
            <a:endParaRPr/>
          </a:p>
          <a:p>
            <a:pPr indent="0" lvl="0" marL="0" rtl="0" algn="l">
              <a:lnSpc>
                <a:spcPct val="115000"/>
              </a:lnSpc>
              <a:spcBef>
                <a:spcPts val="1200"/>
              </a:spcBef>
              <a:spcAft>
                <a:spcPts val="0"/>
              </a:spcAft>
              <a:buClr>
                <a:schemeClr val="dk1"/>
              </a:buClr>
              <a:buSzPts val="1100"/>
              <a:buFont typeface="Arial"/>
              <a:buNone/>
            </a:pPr>
            <a:r>
              <a:rPr lang="en-US"/>
              <a:t>DeepSORT then assigns track IDs and maintains identity across frames using motion and appearance features.</a:t>
            </a:r>
            <a:endParaRPr/>
          </a:p>
          <a:p>
            <a:pPr indent="0" lvl="0" marL="0" rtl="0" algn="l">
              <a:lnSpc>
                <a:spcPct val="115000"/>
              </a:lnSpc>
              <a:spcBef>
                <a:spcPts val="1200"/>
              </a:spcBef>
              <a:spcAft>
                <a:spcPts val="0"/>
              </a:spcAft>
              <a:buClr>
                <a:schemeClr val="dk1"/>
              </a:buClr>
              <a:buSzPts val="1100"/>
              <a:buFont typeface="Arial"/>
              <a:buNone/>
            </a:pPr>
            <a:r>
              <a:rPr lang="en-US"/>
              <a:t>A global ReID module further refines identity tracking across time and partially across cameras.</a:t>
            </a:r>
            <a:endParaRPr/>
          </a:p>
          <a:p>
            <a:pPr indent="0" lvl="0" marL="0" rtl="0" algn="l">
              <a:lnSpc>
                <a:spcPct val="115000"/>
              </a:lnSpc>
              <a:spcBef>
                <a:spcPts val="1200"/>
              </a:spcBef>
              <a:spcAft>
                <a:spcPts val="0"/>
              </a:spcAft>
              <a:buClr>
                <a:schemeClr val="dk1"/>
              </a:buClr>
              <a:buSzPts val="1100"/>
              <a:buFont typeface="Arial"/>
              <a:buNone/>
            </a:pPr>
            <a:r>
              <a:rPr lang="en-US"/>
              <a:t>The system visualizes results in real time with bounding boxes and tracking IDs.</a:t>
            </a:r>
            <a:endParaRPr/>
          </a:p>
          <a:p>
            <a:pPr indent="0" lvl="0" marL="0" rtl="0" algn="l">
              <a:lnSpc>
                <a:spcPct val="115000"/>
              </a:lnSpc>
              <a:spcBef>
                <a:spcPts val="1200"/>
              </a:spcBef>
              <a:spcAft>
                <a:spcPts val="0"/>
              </a:spcAft>
              <a:buClr>
                <a:schemeClr val="dk1"/>
              </a:buClr>
              <a:buSzPts val="1100"/>
              <a:buFont typeface="Arial"/>
              <a:buNone/>
            </a:pPr>
            <a:r>
              <a:rPr lang="en-US"/>
              <a:t>The user can select a target with a click, and the system locks onto that identity.</a:t>
            </a:r>
            <a:endParaRPr/>
          </a:p>
          <a:p>
            <a:pPr indent="0" lvl="0" marL="0" rtl="0" algn="l">
              <a:lnSpc>
                <a:spcPct val="115000"/>
              </a:lnSpc>
              <a:spcBef>
                <a:spcPts val="1200"/>
              </a:spcBef>
              <a:spcAft>
                <a:spcPts val="0"/>
              </a:spcAft>
              <a:buClr>
                <a:schemeClr val="dk1"/>
              </a:buClr>
              <a:buSzPts val="1100"/>
              <a:buFont typeface="Arial"/>
              <a:buNone/>
            </a:pPr>
            <a:r>
              <a:rPr lang="en-US"/>
              <a:t>Tracking continuity is maintained using target locking, lost-track recovery, and cross-camera handoff logic</a:t>
            </a:r>
            <a:endParaRPr/>
          </a:p>
          <a:p>
            <a:pPr indent="0" lvl="0" marL="0" rtl="0" algn="l">
              <a:spcBef>
                <a:spcPts val="1200"/>
              </a:spcBef>
              <a:spcAft>
                <a:spcPts val="0"/>
              </a:spcAft>
              <a:buNone/>
            </a:pPr>
            <a:r>
              <a:t/>
            </a:r>
            <a:endParaRPr/>
          </a:p>
        </p:txBody>
      </p:sp>
      <p:sp>
        <p:nvSpPr>
          <p:cNvPr id="259" name="Google Shape;259;g3e6d78a5f59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e6d78a5f59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This system automates multi-camera monitoring, significantly reducing manual effort.</a:t>
            </a:r>
            <a:endParaRPr/>
          </a:p>
          <a:p>
            <a:pPr indent="0" lvl="0" marL="0" rtl="0" algn="l">
              <a:lnSpc>
                <a:spcPct val="115000"/>
              </a:lnSpc>
              <a:spcBef>
                <a:spcPts val="1200"/>
              </a:spcBef>
              <a:spcAft>
                <a:spcPts val="0"/>
              </a:spcAft>
              <a:buClr>
                <a:schemeClr val="dk1"/>
              </a:buClr>
              <a:buSzPts val="1100"/>
              <a:buFont typeface="Arial"/>
              <a:buNone/>
            </a:pPr>
            <a:r>
              <a:rPr lang="en-US"/>
              <a:t>It improves tracking accuracy using AI-based detection, tracking, and ReID.</a:t>
            </a:r>
            <a:endParaRPr/>
          </a:p>
          <a:p>
            <a:pPr indent="0" lvl="0" marL="0" rtl="0" algn="l">
              <a:lnSpc>
                <a:spcPct val="115000"/>
              </a:lnSpc>
              <a:spcBef>
                <a:spcPts val="1200"/>
              </a:spcBef>
              <a:spcAft>
                <a:spcPts val="0"/>
              </a:spcAft>
              <a:buClr>
                <a:schemeClr val="dk1"/>
              </a:buClr>
              <a:buSzPts val="1100"/>
              <a:buFont typeface="Arial"/>
              <a:buNone/>
            </a:pPr>
            <a:r>
              <a:rPr lang="en-US"/>
              <a:t>By actively following a selected target, it enables faster response to security events.</a:t>
            </a:r>
            <a:endParaRPr/>
          </a:p>
          <a:p>
            <a:pPr indent="0" lvl="0" marL="0" rtl="0" algn="l">
              <a:lnSpc>
                <a:spcPct val="115000"/>
              </a:lnSpc>
              <a:spcBef>
                <a:spcPts val="1200"/>
              </a:spcBef>
              <a:spcAft>
                <a:spcPts val="0"/>
              </a:spcAft>
              <a:buClr>
                <a:schemeClr val="dk1"/>
              </a:buClr>
              <a:buSzPts val="1100"/>
              <a:buFont typeface="Arial"/>
              <a:buNone/>
            </a:pPr>
            <a:r>
              <a:rPr lang="en-US"/>
              <a:t>It also introduces intelligent PTZ automation for dynamic camera control.</a:t>
            </a:r>
            <a:endParaRPr/>
          </a:p>
          <a:p>
            <a:pPr indent="0" lvl="0" marL="0" rtl="0" algn="l">
              <a:lnSpc>
                <a:spcPct val="115000"/>
              </a:lnSpc>
              <a:spcBef>
                <a:spcPts val="1200"/>
              </a:spcBef>
              <a:spcAft>
                <a:spcPts val="0"/>
              </a:spcAft>
              <a:buClr>
                <a:schemeClr val="dk1"/>
              </a:buClr>
              <a:buSzPts val="1100"/>
              <a:buFont typeface="Arial"/>
              <a:buNone/>
            </a:pPr>
            <a:r>
              <a:rPr lang="en-US"/>
              <a:t>Overall, it enhances situational awareness through continuous tracking and real-time visual feedback.</a:t>
            </a:r>
            <a:endParaRPr/>
          </a:p>
          <a:p>
            <a:pPr indent="0" lvl="0" marL="0" rtl="0" algn="l">
              <a:lnSpc>
                <a:spcPct val="115000"/>
              </a:lnSpc>
              <a:spcBef>
                <a:spcPts val="1200"/>
              </a:spcBef>
              <a:spcAft>
                <a:spcPts val="0"/>
              </a:spcAft>
              <a:buClr>
                <a:schemeClr val="dk1"/>
              </a:buClr>
              <a:buSzPts val="1100"/>
              <a:buFont typeface="Arial"/>
              <a:buNone/>
            </a:pPr>
            <a:r>
              <a:rPr lang="en-US"/>
              <a:t>The system is scalable, thanks to its parallel, multi-camera architecture.</a:t>
            </a:r>
            <a:endParaRPr/>
          </a:p>
          <a:p>
            <a:pPr indent="0" lvl="0" marL="0" rtl="0" algn="l">
              <a:lnSpc>
                <a:spcPct val="115000"/>
              </a:lnSpc>
              <a:spcBef>
                <a:spcPts val="1200"/>
              </a:spcBef>
              <a:spcAft>
                <a:spcPts val="0"/>
              </a:spcAft>
              <a:buClr>
                <a:schemeClr val="dk1"/>
              </a:buClr>
              <a:buSzPts val="1100"/>
              <a:buFont typeface="Arial"/>
              <a:buNone/>
            </a:pPr>
            <a:r>
              <a:rPr lang="en-US"/>
              <a:t>It can be applied in areas like smart cities, airports, retail analytics, and industrial safety monitoring.</a:t>
            </a:r>
            <a:endParaRPr/>
          </a:p>
          <a:p>
            <a:pPr indent="0" lvl="0" marL="0" rtl="0" algn="l">
              <a:spcBef>
                <a:spcPts val="1200"/>
              </a:spcBef>
              <a:spcAft>
                <a:spcPts val="0"/>
              </a:spcAft>
              <a:buNone/>
            </a:pPr>
            <a:r>
              <a:t/>
            </a:r>
            <a:endParaRPr/>
          </a:p>
        </p:txBody>
      </p:sp>
      <p:sp>
        <p:nvSpPr>
          <p:cNvPr id="266" name="Google Shape;266;g3e6d78a5f59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e6d78a5f59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We have developed a working real-time prototype of the system.</a:t>
            </a:r>
            <a:endParaRPr/>
          </a:p>
          <a:p>
            <a:pPr indent="0" lvl="0" marL="0" rtl="0" algn="l">
              <a:lnSpc>
                <a:spcPct val="115000"/>
              </a:lnSpc>
              <a:spcBef>
                <a:spcPts val="1200"/>
              </a:spcBef>
              <a:spcAft>
                <a:spcPts val="0"/>
              </a:spcAft>
              <a:buClr>
                <a:schemeClr val="dk1"/>
              </a:buClr>
              <a:buSzPts val="1100"/>
              <a:buFont typeface="Arial"/>
              <a:buNone/>
            </a:pPr>
            <a:r>
              <a:rPr lang="en-US"/>
              <a:t>It supports multiple camera feeds simultaneously and integrates detection, tracking, and PTZ control into a single pipeline.</a:t>
            </a:r>
            <a:endParaRPr/>
          </a:p>
          <a:p>
            <a:pPr indent="0" lvl="0" marL="0" rtl="0" algn="l">
              <a:lnSpc>
                <a:spcPct val="115000"/>
              </a:lnSpc>
              <a:spcBef>
                <a:spcPts val="1200"/>
              </a:spcBef>
              <a:spcAft>
                <a:spcPts val="0"/>
              </a:spcAft>
              <a:buClr>
                <a:schemeClr val="dk1"/>
              </a:buClr>
              <a:buSzPts val="1100"/>
              <a:buFont typeface="Arial"/>
              <a:buNone/>
            </a:pPr>
            <a:r>
              <a:rPr lang="en-US"/>
              <a:t>The interactive target selection feature is fully functional, allowing users to choose and track individuals easily.</a:t>
            </a:r>
            <a:endParaRPr/>
          </a:p>
          <a:p>
            <a:pPr indent="0" lvl="0" marL="0" rtl="0" algn="l">
              <a:lnSpc>
                <a:spcPct val="115000"/>
              </a:lnSpc>
              <a:spcBef>
                <a:spcPts val="1200"/>
              </a:spcBef>
              <a:spcAft>
                <a:spcPts val="0"/>
              </a:spcAft>
              <a:buClr>
                <a:schemeClr val="dk1"/>
              </a:buClr>
              <a:buSzPts val="1100"/>
              <a:buFont typeface="Arial"/>
              <a:buNone/>
            </a:pPr>
            <a:r>
              <a:rPr lang="en-US"/>
              <a:t>Overall, the system demonstrates stable real-time performance across all components.</a:t>
            </a:r>
            <a:endParaRPr/>
          </a:p>
          <a:p>
            <a:pPr indent="0" lvl="0" marL="0" rtl="0" algn="l">
              <a:spcBef>
                <a:spcPts val="1200"/>
              </a:spcBef>
              <a:spcAft>
                <a:spcPts val="0"/>
              </a:spcAft>
              <a:buNone/>
            </a:pPr>
            <a:r>
              <a:t/>
            </a:r>
            <a:endParaRPr/>
          </a:p>
        </p:txBody>
      </p:sp>
      <p:sp>
        <p:nvSpPr>
          <p:cNvPr id="273" name="Google Shape;273;g3e6d78a5f59_0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e6d78a5f5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Going forward, we plan to implement advanced cross-camera re-identification using models like OSNet or FastReID.</a:t>
            </a:r>
            <a:endParaRPr/>
          </a:p>
          <a:p>
            <a:pPr indent="0" lvl="0" marL="0" rtl="0" algn="l">
              <a:lnSpc>
                <a:spcPct val="115000"/>
              </a:lnSpc>
              <a:spcBef>
                <a:spcPts val="1200"/>
              </a:spcBef>
              <a:spcAft>
                <a:spcPts val="0"/>
              </a:spcAft>
              <a:buClr>
                <a:schemeClr val="dk1"/>
              </a:buClr>
              <a:buSzPts val="1100"/>
              <a:buFont typeface="Arial"/>
              <a:buNone/>
            </a:pPr>
            <a:r>
              <a:rPr lang="en-US"/>
              <a:t>This will enable seamless identity handoff as a person moves between cameras.</a:t>
            </a:r>
            <a:endParaRPr/>
          </a:p>
          <a:p>
            <a:pPr indent="0" lvl="0" marL="0" rtl="0" algn="l">
              <a:lnSpc>
                <a:spcPct val="115000"/>
              </a:lnSpc>
              <a:spcBef>
                <a:spcPts val="1200"/>
              </a:spcBef>
              <a:spcAft>
                <a:spcPts val="0"/>
              </a:spcAft>
              <a:buClr>
                <a:schemeClr val="dk1"/>
              </a:buClr>
              <a:buSzPts val="1100"/>
              <a:buFont typeface="Arial"/>
              <a:buNone/>
            </a:pPr>
            <a:r>
              <a:rPr lang="en-US"/>
              <a:t>We also aim to build a web-based dashboard for easier monitoring and control.</a:t>
            </a:r>
            <a:endParaRPr/>
          </a:p>
          <a:p>
            <a:pPr indent="0" lvl="0" marL="0" rtl="0" algn="l">
              <a:lnSpc>
                <a:spcPct val="115000"/>
              </a:lnSpc>
              <a:spcBef>
                <a:spcPts val="1200"/>
              </a:spcBef>
              <a:spcAft>
                <a:spcPts val="0"/>
              </a:spcAft>
              <a:buClr>
                <a:schemeClr val="dk1"/>
              </a:buClr>
              <a:buSzPts val="1100"/>
              <a:buFont typeface="Arial"/>
              <a:buNone/>
            </a:pPr>
            <a:r>
              <a:rPr lang="en-US"/>
              <a:t>Additionally, we plan to add event logging and analytics for deeper insights.</a:t>
            </a:r>
            <a:endParaRPr/>
          </a:p>
          <a:p>
            <a:pPr indent="0" lvl="0" marL="0" rtl="0" algn="l">
              <a:lnSpc>
                <a:spcPct val="115000"/>
              </a:lnSpc>
              <a:spcBef>
                <a:spcPts val="1200"/>
              </a:spcBef>
              <a:spcAft>
                <a:spcPts val="0"/>
              </a:spcAft>
              <a:buClr>
                <a:schemeClr val="dk1"/>
              </a:buClr>
              <a:buSzPts val="1100"/>
              <a:buFont typeface="Arial"/>
              <a:buNone/>
            </a:pPr>
            <a:r>
              <a:rPr lang="en-US"/>
              <a:t>Finally, we will extend the system to support multiple targets with multiple PTZ cameras</a:t>
            </a:r>
            <a:endParaRPr/>
          </a:p>
          <a:p>
            <a:pPr indent="0" lvl="0" marL="0" rtl="0" algn="l">
              <a:spcBef>
                <a:spcPts val="1200"/>
              </a:spcBef>
              <a:spcAft>
                <a:spcPts val="0"/>
              </a:spcAft>
              <a:buNone/>
            </a:pPr>
            <a:r>
              <a:t/>
            </a:r>
            <a:endParaRPr/>
          </a:p>
        </p:txBody>
      </p:sp>
      <p:sp>
        <p:nvSpPr>
          <p:cNvPr id="280" name="Google Shape;280;g3e6d78a5f59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e6d78a5f59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We developed a real-time, AI-powered multi-camera tracking system.</a:t>
            </a:r>
            <a:endParaRPr/>
          </a:p>
          <a:p>
            <a:pPr indent="0" lvl="0" marL="0" rtl="0" algn="l">
              <a:lnSpc>
                <a:spcPct val="115000"/>
              </a:lnSpc>
              <a:spcBef>
                <a:spcPts val="1200"/>
              </a:spcBef>
              <a:spcAft>
                <a:spcPts val="0"/>
              </a:spcAft>
              <a:buClr>
                <a:schemeClr val="dk1"/>
              </a:buClr>
              <a:buSzPts val="1100"/>
              <a:buFont typeface="Arial"/>
              <a:buNone/>
            </a:pPr>
            <a:r>
              <a:rPr lang="en-US"/>
              <a:t>It successfully handles multiple camera feeds in parallel and integrates detection, tracking, and PTZ automation.</a:t>
            </a:r>
            <a:endParaRPr/>
          </a:p>
          <a:p>
            <a:pPr indent="0" lvl="0" marL="0" rtl="0" algn="l">
              <a:lnSpc>
                <a:spcPct val="115000"/>
              </a:lnSpc>
              <a:spcBef>
                <a:spcPts val="1200"/>
              </a:spcBef>
              <a:spcAft>
                <a:spcPts val="0"/>
              </a:spcAft>
              <a:buClr>
                <a:schemeClr val="dk1"/>
              </a:buClr>
              <a:buSzPts val="1100"/>
              <a:buFont typeface="Arial"/>
              <a:buNone/>
            </a:pPr>
            <a:r>
              <a:rPr lang="en-US"/>
              <a:t>We also built an interactive, human-in-the-loop system for dynamic target selection.</a:t>
            </a:r>
            <a:endParaRPr/>
          </a:p>
          <a:p>
            <a:pPr indent="0" lvl="0" marL="0" rtl="0" algn="l">
              <a:lnSpc>
                <a:spcPct val="115000"/>
              </a:lnSpc>
              <a:spcBef>
                <a:spcPts val="1200"/>
              </a:spcBef>
              <a:spcAft>
                <a:spcPts val="0"/>
              </a:spcAft>
              <a:buClr>
                <a:schemeClr val="dk1"/>
              </a:buClr>
              <a:buSzPts val="1100"/>
              <a:buFont typeface="Arial"/>
              <a:buNone/>
            </a:pPr>
            <a:r>
              <a:rPr lang="en-US"/>
              <a:t>Overall, this is not just a demo—it’s a functional, intelligent system ready for real-world applications</a:t>
            </a:r>
            <a:endParaRPr/>
          </a:p>
          <a:p>
            <a:pPr indent="0" lvl="0" marL="0" rtl="0" algn="l">
              <a:spcBef>
                <a:spcPts val="1200"/>
              </a:spcBef>
              <a:spcAft>
                <a:spcPts val="0"/>
              </a:spcAft>
              <a:buNone/>
            </a:pPr>
            <a:r>
              <a:t/>
            </a:r>
            <a:endParaRPr/>
          </a:p>
        </p:txBody>
      </p:sp>
      <p:sp>
        <p:nvSpPr>
          <p:cNvPr id="287" name="Google Shape;287;g3e6d78a5f59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e6d78a5f59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g3e6d78a5f59_0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2" name="Shape 92"/>
        <p:cNvGrpSpPr/>
        <p:nvPr/>
      </p:nvGrpSpPr>
      <p:grpSpPr>
        <a:xfrm>
          <a:off x="0" y="0"/>
          <a:ext cx="0" cy="0"/>
          <a:chOff x="0" y="0"/>
          <a:chExt cx="0" cy="0"/>
        </a:xfrm>
      </p:grpSpPr>
      <p:sp>
        <p:nvSpPr>
          <p:cNvPr id="93" name="Google Shape;93;p21"/>
          <p:cNvSpPr txBox="1"/>
          <p:nvPr>
            <p:ph type="title"/>
          </p:nvPr>
        </p:nvSpPr>
        <p:spPr>
          <a:xfrm>
            <a:off x="1157400" y="494640"/>
            <a:ext cx="5126400" cy="1058400"/>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1"/>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spTree>
      <p:nvGrpSpPr>
        <p:cNvPr id="129" name="Shape 129"/>
        <p:cNvGrpSpPr/>
        <p:nvPr/>
      </p:nvGrpSpPr>
      <p:grpSpPr>
        <a:xfrm>
          <a:off x="0" y="0"/>
          <a:ext cx="0" cy="0"/>
          <a:chOff x="0" y="0"/>
          <a:chExt cx="0" cy="0"/>
        </a:xfrm>
      </p:grpSpPr>
      <p:sp>
        <p:nvSpPr>
          <p:cNvPr id="130" name="Google Shape;130;p25"/>
          <p:cNvSpPr txBox="1"/>
          <p:nvPr>
            <p:ph type="title"/>
          </p:nvPr>
        </p:nvSpPr>
        <p:spPr>
          <a:xfrm>
            <a:off x="1157400" y="494640"/>
            <a:ext cx="5126400" cy="1058400"/>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20"/>
          <p:cNvGrpSpPr/>
          <p:nvPr/>
        </p:nvGrpSpPr>
        <p:grpSpPr>
          <a:xfrm>
            <a:off x="-3254922" y="-2760716"/>
            <a:ext cx="10039482" cy="6731392"/>
            <a:chOff x="-3254922" y="-2760716"/>
            <a:chExt cx="10039482" cy="6731392"/>
          </a:xfrm>
        </p:grpSpPr>
        <p:grpSp>
          <p:nvGrpSpPr>
            <p:cNvPr id="7" name="Google Shape;7;p20"/>
            <p:cNvGrpSpPr/>
            <p:nvPr/>
          </p:nvGrpSpPr>
          <p:grpSpPr>
            <a:xfrm>
              <a:off x="-3254922" y="-2760716"/>
              <a:ext cx="6563845" cy="6731392"/>
              <a:chOff x="-3254922" y="-2760716"/>
              <a:chExt cx="6563845" cy="6731392"/>
            </a:xfrm>
          </p:grpSpPr>
          <p:sp>
            <p:nvSpPr>
              <p:cNvPr id="8" name="Google Shape;8;p20"/>
              <p:cNvSpPr/>
              <p:nvPr/>
            </p:nvSpPr>
            <p:spPr>
              <a:xfrm rot="10221600">
                <a:off x="-1132920" y="-721440"/>
                <a:ext cx="3045240" cy="263700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070000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pic>
            <p:nvPicPr>
              <p:cNvPr id="9" name="Google Shape;9;p20"/>
              <p:cNvPicPr preferRelativeResize="0"/>
              <p:nvPr/>
            </p:nvPicPr>
            <p:blipFill rotWithShape="1">
              <a:blip r:embed="rId1">
                <a:alphaModFix/>
              </a:blip>
              <a:srcRect b="17662" l="0" r="0" t="17653"/>
              <a:stretch/>
            </p:blipFill>
            <p:spPr>
              <a:xfrm rot="-7778400">
                <a:off x="-2650680" y="-1438560"/>
                <a:ext cx="5355360" cy="4087080"/>
              </a:xfrm>
              <a:prstGeom prst="rect">
                <a:avLst/>
              </a:prstGeom>
              <a:noFill/>
              <a:ln>
                <a:noFill/>
              </a:ln>
            </p:spPr>
          </p:pic>
        </p:grpSp>
        <p:sp>
          <p:nvSpPr>
            <p:cNvPr id="10" name="Google Shape;10;p20"/>
            <p:cNvSpPr/>
            <p:nvPr/>
          </p:nvSpPr>
          <p:spPr>
            <a:xfrm>
              <a:off x="-441720" y="-339840"/>
              <a:ext cx="1420560" cy="2832840"/>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0C0A9E"/>
                </a:gs>
                <a:gs pos="100000">
                  <a:srgbClr val="FFFFFF">
                    <a:alpha val="0"/>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1" name="Google Shape;11;p20"/>
            <p:cNvSpPr/>
            <p:nvPr/>
          </p:nvSpPr>
          <p:spPr>
            <a:xfrm rot="2700000">
              <a:off x="765720" y="-2373480"/>
              <a:ext cx="3152880" cy="5118840"/>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 name="Google Shape;12;p20"/>
            <p:cNvSpPr/>
            <p:nvPr/>
          </p:nvSpPr>
          <p:spPr>
            <a:xfrm>
              <a:off x="-353880" y="-534240"/>
              <a:ext cx="7138440" cy="819000"/>
            </a:xfrm>
            <a:custGeom>
              <a:rect b="b" l="l" r="r" t="t"/>
              <a:pathLst>
                <a:path extrusionOk="0" h="32774" w="285545">
                  <a:moveTo>
                    <a:pt x="0" y="32774"/>
                  </a:moveTo>
                  <a:lnTo>
                    <a:pt x="188861" y="32774"/>
                  </a:lnTo>
                  <a:lnTo>
                    <a:pt x="221636" y="0"/>
                  </a:lnTo>
                  <a:lnTo>
                    <a:pt x="285545" y="0"/>
                  </a:lnTo>
                </a:path>
              </a:pathLst>
            </a:custGeom>
            <a:noFill/>
            <a:ln cap="flat" cmpd="sng" w="9525">
              <a:solidFill>
                <a:srgbClr val="0C0A9E"/>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 name="Google Shape;13;p20"/>
            <p:cNvSpPr/>
            <p:nvPr/>
          </p:nvSpPr>
          <p:spPr>
            <a:xfrm rot="5400000">
              <a:off x="958680" y="-1418760"/>
              <a:ext cx="577080" cy="3045240"/>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7058"/>
                  </a:srgbClr>
                </a:gs>
                <a:gs pos="100000">
                  <a:srgbClr val="FFFFFF">
                    <a:alpha val="0"/>
                  </a:srgbClr>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 name="Google Shape;14;p20"/>
            <p:cNvSpPr/>
            <p:nvPr/>
          </p:nvSpPr>
          <p:spPr>
            <a:xfrm rot="5400000">
              <a:off x="502200" y="-954360"/>
              <a:ext cx="686880" cy="2730960"/>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7058"/>
                  </a:srgbClr>
                </a:gs>
                <a:gs pos="100000">
                  <a:srgbClr val="FFFFFF">
                    <a:alpha val="0"/>
                  </a:srgbClr>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5" name="Google Shape;15;p20"/>
            <p:cNvGrpSpPr/>
            <p:nvPr/>
          </p:nvGrpSpPr>
          <p:grpSpPr>
            <a:xfrm>
              <a:off x="4293720" y="218160"/>
              <a:ext cx="133560" cy="133560"/>
              <a:chOff x="4293720" y="218160"/>
              <a:chExt cx="133560" cy="133560"/>
            </a:xfrm>
          </p:grpSpPr>
          <p:sp>
            <p:nvSpPr>
              <p:cNvPr id="16" name="Google Shape;16;p20"/>
              <p:cNvSpPr/>
              <p:nvPr/>
            </p:nvSpPr>
            <p:spPr>
              <a:xfrm flipH="1">
                <a:off x="4293720" y="218160"/>
                <a:ext cx="133560" cy="13356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10800000" scaled="0"/>
              </a:gradFill>
              <a:ln>
                <a:noFill/>
              </a:ln>
            </p:spPr>
            <p:txBody>
              <a:bodyPr anchorCtr="0" anchor="ctr" bIns="66950" lIns="91425" spcFirstLastPara="1" rIns="91425" wrap="square" tIns="66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 name="Google Shape;17;p20"/>
              <p:cNvSpPr/>
              <p:nvPr/>
            </p:nvSpPr>
            <p:spPr>
              <a:xfrm flipH="1">
                <a:off x="4321440" y="248760"/>
                <a:ext cx="79920" cy="7272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10800000" scaled="0"/>
              </a:gradFill>
              <a:ln>
                <a:noFill/>
              </a:ln>
            </p:spPr>
            <p:txBody>
              <a:bodyPr anchorCtr="0" anchor="ctr" bIns="36350" lIns="91425" spcFirstLastPara="1" rIns="91425" wrap="square" tIns="36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8" name="Google Shape;18;p20"/>
            <p:cNvGrpSpPr/>
            <p:nvPr/>
          </p:nvGrpSpPr>
          <p:grpSpPr>
            <a:xfrm>
              <a:off x="1220400" y="521640"/>
              <a:ext cx="133560" cy="133560"/>
              <a:chOff x="1220400" y="521640"/>
              <a:chExt cx="133560" cy="133560"/>
            </a:xfrm>
          </p:grpSpPr>
          <p:sp>
            <p:nvSpPr>
              <p:cNvPr id="19" name="Google Shape;19;p20"/>
              <p:cNvSpPr/>
              <p:nvPr/>
            </p:nvSpPr>
            <p:spPr>
              <a:xfrm flipH="1">
                <a:off x="1220400" y="521640"/>
                <a:ext cx="133560" cy="13356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10800000" scaled="0"/>
              </a:gradFill>
              <a:ln>
                <a:noFill/>
              </a:ln>
            </p:spPr>
            <p:txBody>
              <a:bodyPr anchorCtr="0" anchor="ctr" bIns="66950" lIns="91425" spcFirstLastPara="1" rIns="91425" wrap="square" tIns="66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 name="Google Shape;20;p20"/>
              <p:cNvSpPr/>
              <p:nvPr/>
            </p:nvSpPr>
            <p:spPr>
              <a:xfrm flipH="1">
                <a:off x="1248120" y="551880"/>
                <a:ext cx="79920" cy="7272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10800000" scaled="0"/>
              </a:gradFill>
              <a:ln>
                <a:noFill/>
              </a:ln>
            </p:spPr>
            <p:txBody>
              <a:bodyPr anchorCtr="0" anchor="ctr" bIns="36350" lIns="91425" spcFirstLastPara="1" rIns="91425" wrap="square" tIns="36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1" name="Google Shape;21;p20"/>
            <p:cNvGrpSpPr/>
            <p:nvPr/>
          </p:nvGrpSpPr>
          <p:grpSpPr>
            <a:xfrm>
              <a:off x="933840" y="784440"/>
              <a:ext cx="133560" cy="133560"/>
              <a:chOff x="933840" y="784440"/>
              <a:chExt cx="133560" cy="133560"/>
            </a:xfrm>
          </p:grpSpPr>
          <p:sp>
            <p:nvSpPr>
              <p:cNvPr id="22" name="Google Shape;22;p20"/>
              <p:cNvSpPr/>
              <p:nvPr/>
            </p:nvSpPr>
            <p:spPr>
              <a:xfrm flipH="1">
                <a:off x="933840" y="784440"/>
                <a:ext cx="133560" cy="13356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10800000" scaled="0"/>
              </a:gradFill>
              <a:ln>
                <a:noFill/>
              </a:ln>
            </p:spPr>
            <p:txBody>
              <a:bodyPr anchorCtr="0" anchor="ctr" bIns="66950" lIns="91425" spcFirstLastPara="1" rIns="91425" wrap="square" tIns="66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 name="Google Shape;23;p20"/>
              <p:cNvSpPr/>
              <p:nvPr/>
            </p:nvSpPr>
            <p:spPr>
              <a:xfrm flipH="1">
                <a:off x="961200" y="815040"/>
                <a:ext cx="79920" cy="7272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10800000" scaled="0"/>
              </a:gradFill>
              <a:ln>
                <a:noFill/>
              </a:ln>
            </p:spPr>
            <p:txBody>
              <a:bodyPr anchorCtr="0" anchor="ctr" bIns="36350" lIns="91425" spcFirstLastPara="1" rIns="91425" wrap="square" tIns="36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4" name="Google Shape;24;p20"/>
            <p:cNvGrpSpPr/>
            <p:nvPr/>
          </p:nvGrpSpPr>
          <p:grpSpPr>
            <a:xfrm>
              <a:off x="124560" y="784440"/>
              <a:ext cx="133560" cy="133560"/>
              <a:chOff x="124560" y="784440"/>
              <a:chExt cx="133560" cy="133560"/>
            </a:xfrm>
          </p:grpSpPr>
          <p:sp>
            <p:nvSpPr>
              <p:cNvPr id="25" name="Google Shape;25;p20"/>
              <p:cNvSpPr/>
              <p:nvPr/>
            </p:nvSpPr>
            <p:spPr>
              <a:xfrm flipH="1">
                <a:off x="124560" y="784440"/>
                <a:ext cx="133560" cy="13356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10800000" scaled="0"/>
              </a:gradFill>
              <a:ln>
                <a:noFill/>
              </a:ln>
            </p:spPr>
            <p:txBody>
              <a:bodyPr anchorCtr="0" anchor="ctr" bIns="66950" lIns="91425" spcFirstLastPara="1" rIns="91425" wrap="square" tIns="66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 name="Google Shape;26;p20"/>
              <p:cNvSpPr/>
              <p:nvPr/>
            </p:nvSpPr>
            <p:spPr>
              <a:xfrm flipH="1">
                <a:off x="152280" y="815040"/>
                <a:ext cx="79920" cy="7272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10800000" scaled="0"/>
              </a:gradFill>
              <a:ln>
                <a:noFill/>
              </a:ln>
            </p:spPr>
            <p:txBody>
              <a:bodyPr anchorCtr="0" anchor="ctr" bIns="36350" lIns="91425" spcFirstLastPara="1" rIns="91425" wrap="square" tIns="36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7" name="Google Shape;27;p20"/>
            <p:cNvGrpSpPr/>
            <p:nvPr/>
          </p:nvGrpSpPr>
          <p:grpSpPr>
            <a:xfrm>
              <a:off x="124560" y="467640"/>
              <a:ext cx="133560" cy="133560"/>
              <a:chOff x="124560" y="467640"/>
              <a:chExt cx="133560" cy="133560"/>
            </a:xfrm>
          </p:grpSpPr>
          <p:sp>
            <p:nvSpPr>
              <p:cNvPr id="28" name="Google Shape;28;p20"/>
              <p:cNvSpPr/>
              <p:nvPr/>
            </p:nvSpPr>
            <p:spPr>
              <a:xfrm flipH="1">
                <a:off x="124560" y="467640"/>
                <a:ext cx="133560" cy="13356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10800000" scaled="0"/>
              </a:gradFill>
              <a:ln>
                <a:noFill/>
              </a:ln>
            </p:spPr>
            <p:txBody>
              <a:bodyPr anchorCtr="0" anchor="ctr" bIns="66950" lIns="91425" spcFirstLastPara="1" rIns="91425" wrap="square" tIns="66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 name="Google Shape;29;p20"/>
              <p:cNvSpPr/>
              <p:nvPr/>
            </p:nvSpPr>
            <p:spPr>
              <a:xfrm flipH="1">
                <a:off x="152280" y="498240"/>
                <a:ext cx="79920" cy="7272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10800000" scaled="0"/>
              </a:gradFill>
              <a:ln>
                <a:noFill/>
              </a:ln>
            </p:spPr>
            <p:txBody>
              <a:bodyPr anchorCtr="0" anchor="ctr" bIns="36350" lIns="91425" spcFirstLastPara="1" rIns="91425" wrap="square" tIns="36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30" name="Google Shape;30;p20"/>
          <p:cNvGrpSpPr/>
          <p:nvPr/>
        </p:nvGrpSpPr>
        <p:grpSpPr>
          <a:xfrm>
            <a:off x="6385680" y="3039840"/>
            <a:ext cx="3920040" cy="3213360"/>
            <a:chOff x="6385680" y="3039840"/>
            <a:chExt cx="3920040" cy="3213360"/>
          </a:xfrm>
        </p:grpSpPr>
        <p:pic>
          <p:nvPicPr>
            <p:cNvPr id="31" name="Google Shape;31;p20"/>
            <p:cNvPicPr preferRelativeResize="0"/>
            <p:nvPr/>
          </p:nvPicPr>
          <p:blipFill rotWithShape="1">
            <a:blip r:embed="rId2">
              <a:alphaModFix/>
            </a:blip>
            <a:srcRect b="26173" l="16959" r="7122" t="24713"/>
            <a:stretch/>
          </p:blipFill>
          <p:spPr>
            <a:xfrm>
              <a:off x="6385680" y="3261240"/>
              <a:ext cx="3920040" cy="2991960"/>
            </a:xfrm>
            <a:prstGeom prst="rect">
              <a:avLst/>
            </a:prstGeom>
            <a:noFill/>
            <a:ln>
              <a:noFill/>
            </a:ln>
          </p:spPr>
        </p:pic>
        <p:sp>
          <p:nvSpPr>
            <p:cNvPr id="32" name="Google Shape;32;p20"/>
            <p:cNvSpPr/>
            <p:nvPr/>
          </p:nvSpPr>
          <p:spPr>
            <a:xfrm rot="10800000">
              <a:off x="7612200" y="3138120"/>
              <a:ext cx="981360" cy="2307600"/>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EB9109"/>
                </a:gs>
                <a:gs pos="40000">
                  <a:srgbClr val="FF9900">
                    <a:alpha val="41176"/>
                  </a:srgbClr>
                </a:gs>
                <a:gs pos="100000">
                  <a:srgbClr val="FFFFFF">
                    <a:alpha val="0"/>
                  </a:srgbClr>
                </a:gs>
              </a:gsLst>
              <a:lin ang="135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 name="Google Shape;33;p20"/>
            <p:cNvSpPr/>
            <p:nvPr/>
          </p:nvSpPr>
          <p:spPr>
            <a:xfrm rot="10800000">
              <a:off x="7771320" y="3138840"/>
              <a:ext cx="981360" cy="2307600"/>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EB9109"/>
                </a:gs>
                <a:gs pos="40000">
                  <a:srgbClr val="FF9900">
                    <a:alpha val="41176"/>
                  </a:srgbClr>
                </a:gs>
                <a:gs pos="100000">
                  <a:srgbClr val="FFFFFF">
                    <a:alpha val="0"/>
                  </a:srgbClr>
                </a:gs>
              </a:gsLst>
              <a:lin ang="135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34" name="Google Shape;34;p20"/>
            <p:cNvGrpSpPr/>
            <p:nvPr/>
          </p:nvGrpSpPr>
          <p:grpSpPr>
            <a:xfrm>
              <a:off x="7356600" y="3916440"/>
              <a:ext cx="581760" cy="582120"/>
              <a:chOff x="7356600" y="3916440"/>
              <a:chExt cx="581760" cy="582120"/>
            </a:xfrm>
          </p:grpSpPr>
          <p:sp>
            <p:nvSpPr>
              <p:cNvPr id="35" name="Google Shape;35;p20"/>
              <p:cNvSpPr/>
              <p:nvPr/>
            </p:nvSpPr>
            <p:spPr>
              <a:xfrm>
                <a:off x="7356600" y="4375440"/>
                <a:ext cx="123120" cy="123120"/>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36862"/>
                    </a:srgbClr>
                  </a:gs>
                  <a:gs pos="100000">
                    <a:srgbClr val="FFFFFF">
                      <a:alpha val="36862"/>
                    </a:srgbClr>
                  </a:gs>
                </a:gsLst>
                <a:lin ang="13500000" scaled="0"/>
              </a:gradFill>
              <a:ln>
                <a:noFill/>
              </a:ln>
            </p:spPr>
            <p:txBody>
              <a:bodyPr anchorCtr="0" anchor="ctr" bIns="61550" lIns="91425" spcFirstLastPara="1" rIns="91425" wrap="square" tIns="61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 name="Google Shape;36;p20"/>
              <p:cNvSpPr/>
              <p:nvPr/>
            </p:nvSpPr>
            <p:spPr>
              <a:xfrm>
                <a:off x="7432920" y="4298760"/>
                <a:ext cx="123120" cy="123480"/>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36862"/>
                    </a:srgbClr>
                  </a:gs>
                  <a:gs pos="100000">
                    <a:srgbClr val="FFFFFF">
                      <a:alpha val="36862"/>
                    </a:srgbClr>
                  </a:gs>
                </a:gsLst>
                <a:lin ang="13500000" scaled="0"/>
              </a:gradFill>
              <a:ln>
                <a:noFill/>
              </a:ln>
            </p:spPr>
            <p:txBody>
              <a:bodyPr anchorCtr="0" anchor="ctr" bIns="61900" lIns="91425" spcFirstLastPara="1" rIns="91425" wrap="square" tIns="61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 name="Google Shape;37;p20"/>
              <p:cNvSpPr/>
              <p:nvPr/>
            </p:nvSpPr>
            <p:spPr>
              <a:xfrm>
                <a:off x="7509240" y="4222440"/>
                <a:ext cx="123480" cy="12312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36862"/>
                    </a:srgbClr>
                  </a:gs>
                  <a:gs pos="100000">
                    <a:srgbClr val="FFFFFF">
                      <a:alpha val="36862"/>
                    </a:srgbClr>
                  </a:gs>
                </a:gsLst>
                <a:lin ang="13500000" scaled="0"/>
              </a:gradFill>
              <a:ln>
                <a:noFill/>
              </a:ln>
            </p:spPr>
            <p:txBody>
              <a:bodyPr anchorCtr="0" anchor="ctr" bIns="61550" lIns="91425" spcFirstLastPara="1" rIns="91425" wrap="square" tIns="61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 name="Google Shape;38;p20"/>
              <p:cNvSpPr/>
              <p:nvPr/>
            </p:nvSpPr>
            <p:spPr>
              <a:xfrm>
                <a:off x="7585560" y="4146120"/>
                <a:ext cx="123480" cy="123120"/>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36862"/>
                    </a:srgbClr>
                  </a:gs>
                  <a:gs pos="100000">
                    <a:srgbClr val="FFFFFF">
                      <a:alpha val="36862"/>
                    </a:srgbClr>
                  </a:gs>
                </a:gsLst>
                <a:lin ang="13500000" scaled="0"/>
              </a:gradFill>
              <a:ln>
                <a:noFill/>
              </a:ln>
            </p:spPr>
            <p:txBody>
              <a:bodyPr anchorCtr="0" anchor="ctr" bIns="61550" lIns="91425" spcFirstLastPara="1" rIns="91425" wrap="square" tIns="61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 name="Google Shape;39;p20"/>
              <p:cNvSpPr/>
              <p:nvPr/>
            </p:nvSpPr>
            <p:spPr>
              <a:xfrm>
                <a:off x="7662600" y="4069800"/>
                <a:ext cx="123120" cy="123120"/>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36862"/>
                    </a:srgbClr>
                  </a:gs>
                  <a:gs pos="100000">
                    <a:srgbClr val="FFFFFF">
                      <a:alpha val="36862"/>
                    </a:srgbClr>
                  </a:gs>
                </a:gsLst>
                <a:lin ang="13500000" scaled="0"/>
              </a:gradFill>
              <a:ln>
                <a:noFill/>
              </a:ln>
            </p:spPr>
            <p:txBody>
              <a:bodyPr anchorCtr="0" anchor="ctr" bIns="61550" lIns="91425" spcFirstLastPara="1" rIns="91425" wrap="square" tIns="61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0" name="Google Shape;40;p20"/>
              <p:cNvSpPr/>
              <p:nvPr/>
            </p:nvSpPr>
            <p:spPr>
              <a:xfrm>
                <a:off x="7738560" y="3993120"/>
                <a:ext cx="123120" cy="12312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36862"/>
                    </a:srgbClr>
                  </a:gs>
                  <a:gs pos="100000">
                    <a:srgbClr val="FFFFFF">
                      <a:alpha val="36862"/>
                    </a:srgbClr>
                  </a:gs>
                </a:gsLst>
                <a:lin ang="13500000" scaled="0"/>
              </a:gradFill>
              <a:ln>
                <a:noFill/>
              </a:ln>
            </p:spPr>
            <p:txBody>
              <a:bodyPr anchorCtr="0" anchor="ctr" bIns="61550" lIns="91425" spcFirstLastPara="1" rIns="91425" wrap="square" tIns="61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1" name="Google Shape;41;p20"/>
              <p:cNvSpPr/>
              <p:nvPr/>
            </p:nvSpPr>
            <p:spPr>
              <a:xfrm>
                <a:off x="7815240" y="3916440"/>
                <a:ext cx="123120" cy="123480"/>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36862"/>
                    </a:srgbClr>
                  </a:gs>
                  <a:gs pos="100000">
                    <a:srgbClr val="FFFFFF">
                      <a:alpha val="36862"/>
                    </a:srgbClr>
                  </a:gs>
                </a:gsLst>
                <a:lin ang="13500000" scaled="0"/>
              </a:gradFill>
              <a:ln>
                <a:noFill/>
              </a:ln>
            </p:spPr>
            <p:txBody>
              <a:bodyPr anchorCtr="0" anchor="ctr" bIns="61900" lIns="91425" spcFirstLastPara="1" rIns="91425" wrap="square" tIns="61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2" name="Google Shape;42;p20"/>
            <p:cNvSpPr/>
            <p:nvPr/>
          </p:nvSpPr>
          <p:spPr>
            <a:xfrm>
              <a:off x="8506800" y="3039840"/>
              <a:ext cx="480600" cy="475560"/>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3" name="Google Shape;43;p20"/>
            <p:cNvGrpSpPr/>
            <p:nvPr/>
          </p:nvGrpSpPr>
          <p:grpSpPr>
            <a:xfrm>
              <a:off x="8413920" y="3689280"/>
              <a:ext cx="699840" cy="1650600"/>
              <a:chOff x="8413920" y="3689280"/>
              <a:chExt cx="699840" cy="1650600"/>
            </a:xfrm>
          </p:grpSpPr>
          <p:sp>
            <p:nvSpPr>
              <p:cNvPr id="44" name="Google Shape;44;p20"/>
              <p:cNvSpPr/>
              <p:nvPr/>
            </p:nvSpPr>
            <p:spPr>
              <a:xfrm>
                <a:off x="8413920" y="3689280"/>
                <a:ext cx="482760" cy="1013400"/>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862"/>
                    </a:srgbClr>
                  </a:gs>
                  <a:gs pos="100000">
                    <a:srgbClr val="FFFFFF">
                      <a:alpha val="0"/>
                    </a:srgbClr>
                  </a:gs>
                </a:gsLst>
                <a:lin ang="135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 name="Google Shape;45;p20"/>
              <p:cNvSpPr/>
              <p:nvPr/>
            </p:nvSpPr>
            <p:spPr>
              <a:xfrm>
                <a:off x="8774640" y="4113360"/>
                <a:ext cx="246600" cy="1226520"/>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862"/>
                    </a:srgbClr>
                  </a:gs>
                  <a:gs pos="100000">
                    <a:srgbClr val="FFFFFF">
                      <a:alpha val="0"/>
                    </a:srgbClr>
                  </a:gs>
                </a:gsLst>
                <a:lin ang="135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6" name="Google Shape;46;p20"/>
              <p:cNvSpPr/>
              <p:nvPr/>
            </p:nvSpPr>
            <p:spPr>
              <a:xfrm>
                <a:off x="8867160" y="4020480"/>
                <a:ext cx="246600" cy="1226520"/>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862"/>
                    </a:srgbClr>
                  </a:gs>
                  <a:gs pos="100000">
                    <a:srgbClr val="FFFFFF">
                      <a:alpha val="0"/>
                    </a:srgbClr>
                  </a:gs>
                </a:gsLst>
                <a:lin ang="135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47" name="Google Shape;47;p20"/>
            <p:cNvGrpSpPr/>
            <p:nvPr/>
          </p:nvGrpSpPr>
          <p:grpSpPr>
            <a:xfrm>
              <a:off x="8021520" y="4498560"/>
              <a:ext cx="904320" cy="725760"/>
              <a:chOff x="8021520" y="4498560"/>
              <a:chExt cx="904320" cy="725760"/>
            </a:xfrm>
          </p:grpSpPr>
          <p:sp>
            <p:nvSpPr>
              <p:cNvPr id="48" name="Google Shape;48;p20"/>
              <p:cNvSpPr/>
              <p:nvPr/>
            </p:nvSpPr>
            <p:spPr>
              <a:xfrm>
                <a:off x="8253000" y="4641840"/>
                <a:ext cx="672840" cy="58248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 name="Google Shape;49;p20"/>
              <p:cNvSpPr/>
              <p:nvPr/>
            </p:nvSpPr>
            <p:spPr>
              <a:xfrm>
                <a:off x="8240400" y="4498560"/>
                <a:ext cx="480600" cy="41616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 name="Google Shape;50;p20"/>
              <p:cNvSpPr/>
              <p:nvPr/>
            </p:nvSpPr>
            <p:spPr>
              <a:xfrm>
                <a:off x="8021520" y="4641840"/>
                <a:ext cx="480600" cy="41616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51" name="Google Shape;51;p20"/>
          <p:cNvSpPr txBox="1"/>
          <p:nvPr>
            <p:ph type="title"/>
          </p:nvPr>
        </p:nvSpPr>
        <p:spPr>
          <a:xfrm>
            <a:off x="1096920" y="816480"/>
            <a:ext cx="6974280" cy="23263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52" name="Google Shape;52;p20"/>
          <p:cNvGrpSpPr/>
          <p:nvPr/>
        </p:nvGrpSpPr>
        <p:grpSpPr>
          <a:xfrm>
            <a:off x="-309483" y="3617577"/>
            <a:ext cx="1447873" cy="2238543"/>
            <a:chOff x="-309483" y="3617577"/>
            <a:chExt cx="1447873" cy="2238543"/>
          </a:xfrm>
        </p:grpSpPr>
        <p:grpSp>
          <p:nvGrpSpPr>
            <p:cNvPr id="53" name="Google Shape;53;p20"/>
            <p:cNvGrpSpPr/>
            <p:nvPr/>
          </p:nvGrpSpPr>
          <p:grpSpPr>
            <a:xfrm>
              <a:off x="-276120" y="3870720"/>
              <a:ext cx="981360" cy="1985400"/>
              <a:chOff x="-276120" y="3870720"/>
              <a:chExt cx="981360" cy="1985400"/>
            </a:xfrm>
          </p:grpSpPr>
          <p:sp>
            <p:nvSpPr>
              <p:cNvPr id="54" name="Google Shape;54;p20"/>
              <p:cNvSpPr/>
              <p:nvPr/>
            </p:nvSpPr>
            <p:spPr>
              <a:xfrm rot="10800000">
                <a:off x="-276120" y="3870720"/>
                <a:ext cx="844200" cy="1985040"/>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0C0A9E"/>
                  </a:gs>
                  <a:gs pos="100000">
                    <a:srgbClr val="FFFFFF">
                      <a:alpha val="0"/>
                    </a:srgbClr>
                  </a:gs>
                </a:gsLst>
                <a:lin ang="162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5" name="Google Shape;55;p20"/>
              <p:cNvSpPr/>
              <p:nvPr/>
            </p:nvSpPr>
            <p:spPr>
              <a:xfrm rot="10800000">
                <a:off x="-138960" y="3871080"/>
                <a:ext cx="844200" cy="1985040"/>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0C0A9E"/>
                  </a:gs>
                  <a:gs pos="100000">
                    <a:srgbClr val="FFFFFF">
                      <a:alpha val="0"/>
                    </a:srgbClr>
                  </a:gs>
                </a:gsLst>
                <a:lin ang="162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56" name="Google Shape;56;p20"/>
            <p:cNvGrpSpPr/>
            <p:nvPr/>
          </p:nvGrpSpPr>
          <p:grpSpPr>
            <a:xfrm>
              <a:off x="363070" y="4906630"/>
              <a:ext cx="699361" cy="478061"/>
              <a:chOff x="363070" y="4906630"/>
              <a:chExt cx="699361" cy="478061"/>
            </a:xfrm>
          </p:grpSpPr>
          <p:grpSp>
            <p:nvGrpSpPr>
              <p:cNvPr id="57" name="Google Shape;57;p20"/>
              <p:cNvGrpSpPr/>
              <p:nvPr/>
            </p:nvGrpSpPr>
            <p:grpSpPr>
              <a:xfrm>
                <a:off x="363070" y="4906630"/>
                <a:ext cx="478061" cy="478061"/>
                <a:chOff x="363070" y="4906630"/>
                <a:chExt cx="478061" cy="478061"/>
              </a:xfrm>
            </p:grpSpPr>
            <p:sp>
              <p:nvSpPr>
                <p:cNvPr id="58" name="Google Shape;58;p20"/>
                <p:cNvSpPr/>
                <p:nvPr/>
              </p:nvSpPr>
              <p:spPr>
                <a:xfrm rot="2700000">
                  <a:off x="429480" y="4980240"/>
                  <a:ext cx="345240" cy="330840"/>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9900FF">
                        <a:alpha val="29019"/>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59" name="Google Shape;59;p20"/>
                <p:cNvGrpSpPr/>
                <p:nvPr/>
              </p:nvGrpSpPr>
              <p:grpSpPr>
                <a:xfrm>
                  <a:off x="408343" y="5007343"/>
                  <a:ext cx="387153" cy="223353"/>
                  <a:chOff x="408343" y="5007343"/>
                  <a:chExt cx="387153" cy="223353"/>
                </a:xfrm>
              </p:grpSpPr>
              <p:sp>
                <p:nvSpPr>
                  <p:cNvPr id="60" name="Google Shape;60;p20"/>
                  <p:cNvSpPr/>
                  <p:nvPr/>
                </p:nvSpPr>
                <p:spPr>
                  <a:xfrm rot="2700000">
                    <a:off x="441000" y="5040000"/>
                    <a:ext cx="157680" cy="157680"/>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 name="Google Shape;61;p20"/>
                  <p:cNvSpPr/>
                  <p:nvPr/>
                </p:nvSpPr>
                <p:spPr>
                  <a:xfrm rot="2700000">
                    <a:off x="482040" y="5040360"/>
                    <a:ext cx="157680" cy="157680"/>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 name="Google Shape;62;p20"/>
                  <p:cNvSpPr/>
                  <p:nvPr/>
                </p:nvSpPr>
                <p:spPr>
                  <a:xfrm rot="2700000">
                    <a:off x="523080" y="5040000"/>
                    <a:ext cx="157680" cy="157680"/>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 name="Google Shape;63;p20"/>
                  <p:cNvSpPr/>
                  <p:nvPr/>
                </p:nvSpPr>
                <p:spPr>
                  <a:xfrm rot="2700000">
                    <a:off x="564120" y="5040000"/>
                    <a:ext cx="157680" cy="157680"/>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 name="Google Shape;64;p20"/>
                  <p:cNvSpPr/>
                  <p:nvPr/>
                </p:nvSpPr>
                <p:spPr>
                  <a:xfrm rot="2700000">
                    <a:off x="605160" y="5040360"/>
                    <a:ext cx="157680" cy="157680"/>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65" name="Google Shape;65;p20"/>
              <p:cNvSpPr/>
              <p:nvPr/>
            </p:nvSpPr>
            <p:spPr>
              <a:xfrm rot="-2700000">
                <a:off x="694440" y="4986000"/>
                <a:ext cx="324360" cy="2577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66" name="Google Shape;66;p20"/>
            <p:cNvGrpSpPr/>
            <p:nvPr/>
          </p:nvGrpSpPr>
          <p:grpSpPr>
            <a:xfrm>
              <a:off x="-309483" y="3617577"/>
              <a:ext cx="1046645" cy="1350845"/>
              <a:chOff x="-309483" y="3617577"/>
              <a:chExt cx="1046645" cy="1350845"/>
            </a:xfrm>
          </p:grpSpPr>
          <p:sp>
            <p:nvSpPr>
              <p:cNvPr id="67" name="Google Shape;67;p20"/>
              <p:cNvSpPr/>
              <p:nvPr/>
            </p:nvSpPr>
            <p:spPr>
              <a:xfrm rot="-8100000">
                <a:off x="37080" y="4271400"/>
                <a:ext cx="581760" cy="575640"/>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7058"/>
                    </a:srgbClr>
                  </a:gs>
                  <a:gs pos="100000">
                    <a:srgbClr val="FFFFFF">
                      <a:alpha val="47058"/>
                    </a:srgbClr>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 name="Google Shape;68;p20"/>
              <p:cNvSpPr/>
              <p:nvPr/>
            </p:nvSpPr>
            <p:spPr>
              <a:xfrm rot="-8100000">
                <a:off x="-38880" y="4087080"/>
                <a:ext cx="581760" cy="575640"/>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7058"/>
                    </a:srgbClr>
                  </a:gs>
                  <a:gs pos="100000">
                    <a:srgbClr val="FFFFFF">
                      <a:alpha val="47058"/>
                    </a:srgbClr>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 name="Google Shape;69;p20"/>
              <p:cNvSpPr/>
              <p:nvPr/>
            </p:nvSpPr>
            <p:spPr>
              <a:xfrm rot="-8100000">
                <a:off x="-115200" y="3923280"/>
                <a:ext cx="581760" cy="575640"/>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7058"/>
                    </a:srgbClr>
                  </a:gs>
                  <a:gs pos="100000">
                    <a:srgbClr val="FFFFFF">
                      <a:alpha val="47058"/>
                    </a:srgbClr>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 name="Google Shape;70;p20"/>
              <p:cNvSpPr/>
              <p:nvPr/>
            </p:nvSpPr>
            <p:spPr>
              <a:xfrm rot="-8100000">
                <a:off x="-191160" y="3738960"/>
                <a:ext cx="581760" cy="575640"/>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7058"/>
                    </a:srgbClr>
                  </a:gs>
                  <a:gs pos="100000">
                    <a:srgbClr val="FFFFFF">
                      <a:alpha val="47058"/>
                    </a:srgbClr>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71" name="Google Shape;71;p20"/>
            <p:cNvGrpSpPr/>
            <p:nvPr/>
          </p:nvGrpSpPr>
          <p:grpSpPr>
            <a:xfrm>
              <a:off x="439030" y="4567150"/>
              <a:ext cx="699361" cy="478061"/>
              <a:chOff x="439030" y="4567150"/>
              <a:chExt cx="699361" cy="478061"/>
            </a:xfrm>
          </p:grpSpPr>
          <p:grpSp>
            <p:nvGrpSpPr>
              <p:cNvPr id="72" name="Google Shape;72;p20"/>
              <p:cNvGrpSpPr/>
              <p:nvPr/>
            </p:nvGrpSpPr>
            <p:grpSpPr>
              <a:xfrm>
                <a:off x="439030" y="4567150"/>
                <a:ext cx="478061" cy="478061"/>
                <a:chOff x="439030" y="4567150"/>
                <a:chExt cx="478061" cy="478061"/>
              </a:xfrm>
            </p:grpSpPr>
            <p:sp>
              <p:nvSpPr>
                <p:cNvPr id="73" name="Google Shape;73;p20"/>
                <p:cNvSpPr/>
                <p:nvPr/>
              </p:nvSpPr>
              <p:spPr>
                <a:xfrm rot="2700000">
                  <a:off x="505440" y="4640760"/>
                  <a:ext cx="345240" cy="330840"/>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9900FF">
                        <a:alpha val="29019"/>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74" name="Google Shape;74;p20"/>
                <p:cNvGrpSpPr/>
                <p:nvPr/>
              </p:nvGrpSpPr>
              <p:grpSpPr>
                <a:xfrm>
                  <a:off x="483943" y="4667863"/>
                  <a:ext cx="387153" cy="223353"/>
                  <a:chOff x="483943" y="4667863"/>
                  <a:chExt cx="387153" cy="223353"/>
                </a:xfrm>
              </p:grpSpPr>
              <p:sp>
                <p:nvSpPr>
                  <p:cNvPr id="75" name="Google Shape;75;p20"/>
                  <p:cNvSpPr/>
                  <p:nvPr/>
                </p:nvSpPr>
                <p:spPr>
                  <a:xfrm rot="2700000">
                    <a:off x="516600" y="4700520"/>
                    <a:ext cx="157680" cy="157680"/>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 name="Google Shape;76;p20"/>
                  <p:cNvSpPr/>
                  <p:nvPr/>
                </p:nvSpPr>
                <p:spPr>
                  <a:xfrm rot="2700000">
                    <a:off x="557640" y="4700880"/>
                    <a:ext cx="157680" cy="157680"/>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 name="Google Shape;77;p20"/>
                  <p:cNvSpPr/>
                  <p:nvPr/>
                </p:nvSpPr>
                <p:spPr>
                  <a:xfrm rot="2700000">
                    <a:off x="599040" y="4700520"/>
                    <a:ext cx="157680" cy="157680"/>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 name="Google Shape;78;p20"/>
                  <p:cNvSpPr/>
                  <p:nvPr/>
                </p:nvSpPr>
                <p:spPr>
                  <a:xfrm rot="2700000">
                    <a:off x="639720" y="4700520"/>
                    <a:ext cx="157680" cy="157680"/>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 name="Google Shape;79;p20"/>
                  <p:cNvSpPr/>
                  <p:nvPr/>
                </p:nvSpPr>
                <p:spPr>
                  <a:xfrm rot="2700000">
                    <a:off x="680760" y="4700880"/>
                    <a:ext cx="157680" cy="157680"/>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80" name="Google Shape;80;p20"/>
              <p:cNvSpPr/>
              <p:nvPr/>
            </p:nvSpPr>
            <p:spPr>
              <a:xfrm rot="-2700000">
                <a:off x="770400" y="4646520"/>
                <a:ext cx="324360" cy="2577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81" name="Google Shape;81;p20"/>
            <p:cNvGrpSpPr/>
            <p:nvPr/>
          </p:nvGrpSpPr>
          <p:grpSpPr>
            <a:xfrm>
              <a:off x="-64970" y="4623670"/>
              <a:ext cx="699001" cy="478061"/>
              <a:chOff x="-64970" y="4623670"/>
              <a:chExt cx="699001" cy="478061"/>
            </a:xfrm>
          </p:grpSpPr>
          <p:grpSp>
            <p:nvGrpSpPr>
              <p:cNvPr id="82" name="Google Shape;82;p20"/>
              <p:cNvGrpSpPr/>
              <p:nvPr/>
            </p:nvGrpSpPr>
            <p:grpSpPr>
              <a:xfrm>
                <a:off x="-64970" y="4623670"/>
                <a:ext cx="478061" cy="478061"/>
                <a:chOff x="-64970" y="4623670"/>
                <a:chExt cx="478061" cy="478061"/>
              </a:xfrm>
            </p:grpSpPr>
            <p:sp>
              <p:nvSpPr>
                <p:cNvPr id="83" name="Google Shape;83;p20"/>
                <p:cNvSpPr/>
                <p:nvPr/>
              </p:nvSpPr>
              <p:spPr>
                <a:xfrm rot="2700000">
                  <a:off x="1440" y="4697280"/>
                  <a:ext cx="345240" cy="330840"/>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9900FF">
                        <a:alpha val="29019"/>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84" name="Google Shape;84;p20"/>
                <p:cNvGrpSpPr/>
                <p:nvPr/>
              </p:nvGrpSpPr>
              <p:grpSpPr>
                <a:xfrm>
                  <a:off x="-20417" y="4724383"/>
                  <a:ext cx="387153" cy="223353"/>
                  <a:chOff x="-20417" y="4724383"/>
                  <a:chExt cx="387153" cy="223353"/>
                </a:xfrm>
              </p:grpSpPr>
              <p:sp>
                <p:nvSpPr>
                  <p:cNvPr id="85" name="Google Shape;85;p20"/>
                  <p:cNvSpPr/>
                  <p:nvPr/>
                </p:nvSpPr>
                <p:spPr>
                  <a:xfrm rot="2700000">
                    <a:off x="12240" y="4757040"/>
                    <a:ext cx="157680" cy="157680"/>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 name="Google Shape;86;p20"/>
                  <p:cNvSpPr/>
                  <p:nvPr/>
                </p:nvSpPr>
                <p:spPr>
                  <a:xfrm rot="2700000">
                    <a:off x="53280" y="4757400"/>
                    <a:ext cx="157680" cy="157680"/>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 name="Google Shape;87;p20"/>
                  <p:cNvSpPr/>
                  <p:nvPr/>
                </p:nvSpPr>
                <p:spPr>
                  <a:xfrm rot="2700000">
                    <a:off x="94320" y="4757040"/>
                    <a:ext cx="157680" cy="157680"/>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 name="Google Shape;88;p20"/>
                  <p:cNvSpPr/>
                  <p:nvPr/>
                </p:nvSpPr>
                <p:spPr>
                  <a:xfrm rot="2700000">
                    <a:off x="135360" y="4757040"/>
                    <a:ext cx="157680" cy="157680"/>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 name="Google Shape;89;p20"/>
                  <p:cNvSpPr/>
                  <p:nvPr/>
                </p:nvSpPr>
                <p:spPr>
                  <a:xfrm rot="2700000">
                    <a:off x="176400" y="4757400"/>
                    <a:ext cx="157680" cy="157680"/>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7058"/>
                        </a:srgbClr>
                      </a:gs>
                      <a:gs pos="100000">
                        <a:srgbClr val="FFFFFF">
                          <a:alpha val="47058"/>
                        </a:srgbClr>
                      </a:gs>
                    </a:gsLst>
                    <a:lin ang="5400000"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90" name="Google Shape;90;p20"/>
              <p:cNvSpPr/>
              <p:nvPr/>
            </p:nvSpPr>
            <p:spPr>
              <a:xfrm rot="-2700000">
                <a:off x="266040" y="4703040"/>
                <a:ext cx="324360" cy="2577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91" name="Google Shape;91;p20"/>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 name="Shape 95"/>
        <p:cNvGrpSpPr/>
        <p:nvPr/>
      </p:nvGrpSpPr>
      <p:grpSpPr>
        <a:xfrm>
          <a:off x="0" y="0"/>
          <a:ext cx="0" cy="0"/>
          <a:chOff x="0" y="0"/>
          <a:chExt cx="0" cy="0"/>
        </a:xfrm>
      </p:grpSpPr>
      <p:sp>
        <p:nvSpPr>
          <p:cNvPr id="96" name="Google Shape;96;p24"/>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7" name="Google Shape;97;p24"/>
          <p:cNvSpPr txBox="1"/>
          <p:nvPr>
            <p:ph idx="1" type="body"/>
          </p:nvPr>
        </p:nvSpPr>
        <p:spPr>
          <a:xfrm>
            <a:off x="720000" y="1139400"/>
            <a:ext cx="7703640" cy="41112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grpSp>
        <p:nvGrpSpPr>
          <p:cNvPr id="98" name="Google Shape;98;p24"/>
          <p:cNvGrpSpPr/>
          <p:nvPr/>
        </p:nvGrpSpPr>
        <p:grpSpPr>
          <a:xfrm>
            <a:off x="7365240" y="-1147680"/>
            <a:ext cx="3732840" cy="6536520"/>
            <a:chOff x="7365240" y="-1147680"/>
            <a:chExt cx="3732840" cy="6536520"/>
          </a:xfrm>
        </p:grpSpPr>
        <p:pic>
          <p:nvPicPr>
            <p:cNvPr id="99" name="Google Shape;99;p24"/>
            <p:cNvPicPr preferRelativeResize="0"/>
            <p:nvPr/>
          </p:nvPicPr>
          <p:blipFill rotWithShape="1">
            <a:blip r:embed="rId1">
              <a:alphaModFix/>
            </a:blip>
            <a:srcRect b="26173" l="16959" r="7122" t="24713"/>
            <a:stretch/>
          </p:blipFill>
          <p:spPr>
            <a:xfrm>
              <a:off x="7365240" y="-1147680"/>
              <a:ext cx="3732840" cy="2848680"/>
            </a:xfrm>
            <a:prstGeom prst="rect">
              <a:avLst/>
            </a:prstGeom>
            <a:noFill/>
            <a:ln>
              <a:noFill/>
            </a:ln>
          </p:spPr>
        </p:pic>
        <p:grpSp>
          <p:nvGrpSpPr>
            <p:cNvPr id="100" name="Google Shape;100;p24"/>
            <p:cNvGrpSpPr/>
            <p:nvPr/>
          </p:nvGrpSpPr>
          <p:grpSpPr>
            <a:xfrm>
              <a:off x="7544880" y="540000"/>
              <a:ext cx="1518120" cy="3030120"/>
              <a:chOff x="7544880" y="540000"/>
              <a:chExt cx="1518120" cy="3030120"/>
            </a:xfrm>
          </p:grpSpPr>
          <p:sp>
            <p:nvSpPr>
              <p:cNvPr id="101" name="Google Shape;101;p24"/>
              <p:cNvSpPr/>
              <p:nvPr/>
            </p:nvSpPr>
            <p:spPr>
              <a:xfrm rot="10800000">
                <a:off x="7642440" y="737280"/>
                <a:ext cx="1420560" cy="2832840"/>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0C0A9E"/>
                  </a:gs>
                  <a:gs pos="100000">
                    <a:srgbClr val="FFFFFF">
                      <a:alpha val="0"/>
                    </a:srgbClr>
                  </a:gs>
                </a:gsLst>
                <a:lin ang="162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 name="Google Shape;102;p24"/>
              <p:cNvSpPr/>
              <p:nvPr/>
            </p:nvSpPr>
            <p:spPr>
              <a:xfrm rot="10800000">
                <a:off x="7544880" y="540000"/>
                <a:ext cx="1420560" cy="2832840"/>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0C0A9E"/>
                  </a:gs>
                  <a:gs pos="100000">
                    <a:srgbClr val="FFFFFF">
                      <a:alpha val="0"/>
                    </a:srgbClr>
                  </a:gs>
                </a:gsLst>
                <a:lin ang="162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03" name="Google Shape;103;p24"/>
            <p:cNvSpPr/>
            <p:nvPr/>
          </p:nvSpPr>
          <p:spPr>
            <a:xfrm rot="5400000">
              <a:off x="8250840" y="-876960"/>
              <a:ext cx="1420560" cy="2832840"/>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0C0A9E"/>
                </a:gs>
                <a:gs pos="100000">
                  <a:srgbClr val="FFFFFF">
                    <a:alpha val="0"/>
                  </a:srgbClr>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04" name="Google Shape;104;p24"/>
            <p:cNvGrpSpPr/>
            <p:nvPr/>
          </p:nvGrpSpPr>
          <p:grpSpPr>
            <a:xfrm>
              <a:off x="7893360" y="270000"/>
              <a:ext cx="3152880" cy="5118840"/>
              <a:chOff x="7893360" y="270000"/>
              <a:chExt cx="3152880" cy="5118840"/>
            </a:xfrm>
          </p:grpSpPr>
          <p:sp>
            <p:nvSpPr>
              <p:cNvPr id="105" name="Google Shape;105;p24"/>
              <p:cNvSpPr/>
              <p:nvPr/>
            </p:nvSpPr>
            <p:spPr>
              <a:xfrm>
                <a:off x="7893360" y="270000"/>
                <a:ext cx="3152880" cy="5118840"/>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06" name="Google Shape;106;p24"/>
              <p:cNvGrpSpPr/>
              <p:nvPr/>
            </p:nvGrpSpPr>
            <p:grpSpPr>
              <a:xfrm>
                <a:off x="8345160" y="4736520"/>
                <a:ext cx="133560" cy="133560"/>
                <a:chOff x="8345160" y="4736520"/>
                <a:chExt cx="133560" cy="133560"/>
              </a:xfrm>
            </p:grpSpPr>
            <p:sp>
              <p:nvSpPr>
                <p:cNvPr id="107" name="Google Shape;107;p24"/>
                <p:cNvSpPr/>
                <p:nvPr/>
              </p:nvSpPr>
              <p:spPr>
                <a:xfrm>
                  <a:off x="8345160" y="4736520"/>
                  <a:ext cx="133560" cy="13356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8" name="Google Shape;108;p24"/>
                <p:cNvSpPr/>
                <p:nvPr/>
              </p:nvSpPr>
              <p:spPr>
                <a:xfrm>
                  <a:off x="8364240" y="4755240"/>
                  <a:ext cx="95760" cy="9576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09" name="Google Shape;109;p24"/>
              <p:cNvGrpSpPr/>
              <p:nvPr/>
            </p:nvGrpSpPr>
            <p:grpSpPr>
              <a:xfrm>
                <a:off x="8940600" y="3794760"/>
                <a:ext cx="133560" cy="133560"/>
                <a:chOff x="8940600" y="3794760"/>
                <a:chExt cx="133560" cy="133560"/>
              </a:xfrm>
            </p:grpSpPr>
            <p:sp>
              <p:nvSpPr>
                <p:cNvPr id="110" name="Google Shape;110;p24"/>
                <p:cNvSpPr/>
                <p:nvPr/>
              </p:nvSpPr>
              <p:spPr>
                <a:xfrm>
                  <a:off x="8940600" y="3794760"/>
                  <a:ext cx="133560" cy="13356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 name="Google Shape;111;p24"/>
                <p:cNvSpPr/>
                <p:nvPr/>
              </p:nvSpPr>
              <p:spPr>
                <a:xfrm>
                  <a:off x="8959680" y="3813480"/>
                  <a:ext cx="95760" cy="9576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12" name="Google Shape;112;p24"/>
              <p:cNvGrpSpPr/>
              <p:nvPr/>
            </p:nvGrpSpPr>
            <p:grpSpPr>
              <a:xfrm>
                <a:off x="8806680" y="2424600"/>
                <a:ext cx="133560" cy="133560"/>
                <a:chOff x="8806680" y="2424600"/>
                <a:chExt cx="133560" cy="133560"/>
              </a:xfrm>
            </p:grpSpPr>
            <p:sp>
              <p:nvSpPr>
                <p:cNvPr id="113" name="Google Shape;113;p24"/>
                <p:cNvSpPr/>
                <p:nvPr/>
              </p:nvSpPr>
              <p:spPr>
                <a:xfrm>
                  <a:off x="8806680" y="2424600"/>
                  <a:ext cx="133560" cy="13356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4" name="Google Shape;114;p24"/>
                <p:cNvSpPr/>
                <p:nvPr/>
              </p:nvSpPr>
              <p:spPr>
                <a:xfrm>
                  <a:off x="8825400" y="2443680"/>
                  <a:ext cx="95760" cy="9576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grpSp>
        <p:nvGrpSpPr>
          <p:cNvPr id="115" name="Google Shape;115;p24"/>
          <p:cNvGrpSpPr/>
          <p:nvPr/>
        </p:nvGrpSpPr>
        <p:grpSpPr>
          <a:xfrm>
            <a:off x="-576049" y="3774006"/>
            <a:ext cx="1954898" cy="2072269"/>
            <a:chOff x="-576049" y="3774006"/>
            <a:chExt cx="1954898" cy="2072269"/>
          </a:xfrm>
        </p:grpSpPr>
        <p:sp>
          <p:nvSpPr>
            <p:cNvPr id="116" name="Google Shape;116;p24"/>
            <p:cNvSpPr/>
            <p:nvPr/>
          </p:nvSpPr>
          <p:spPr>
            <a:xfrm rot="8271000">
              <a:off x="275400" y="3614760"/>
              <a:ext cx="396360" cy="2260080"/>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0C0A9E"/>
                </a:gs>
                <a:gs pos="100000">
                  <a:srgbClr val="FFFFFF">
                    <a:alpha val="0"/>
                  </a:srgbClr>
                </a:gs>
              </a:gsLst>
              <a:lin ang="162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7" name="Google Shape;117;p24"/>
            <p:cNvSpPr/>
            <p:nvPr/>
          </p:nvSpPr>
          <p:spPr>
            <a:xfrm rot="8271000">
              <a:off x="131040" y="3745440"/>
              <a:ext cx="396360" cy="2260080"/>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0C0A9E"/>
                </a:gs>
                <a:gs pos="100000">
                  <a:srgbClr val="FFFFFF">
                    <a:alpha val="0"/>
                  </a:srgbClr>
                </a:gs>
              </a:gsLst>
              <a:lin ang="162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18" name="Google Shape;118;p24"/>
          <p:cNvGrpSpPr/>
          <p:nvPr/>
        </p:nvGrpSpPr>
        <p:grpSpPr>
          <a:xfrm>
            <a:off x="-519480" y="-573120"/>
            <a:ext cx="1501200" cy="2806920"/>
            <a:chOff x="-519480" y="-573120"/>
            <a:chExt cx="1501200" cy="2806920"/>
          </a:xfrm>
        </p:grpSpPr>
        <p:grpSp>
          <p:nvGrpSpPr>
            <p:cNvPr id="119" name="Google Shape;119;p24"/>
            <p:cNvGrpSpPr/>
            <p:nvPr/>
          </p:nvGrpSpPr>
          <p:grpSpPr>
            <a:xfrm>
              <a:off x="-343440" y="1508040"/>
              <a:ext cx="904320" cy="725760"/>
              <a:chOff x="-343440" y="1508040"/>
              <a:chExt cx="904320" cy="725760"/>
            </a:xfrm>
          </p:grpSpPr>
          <p:sp>
            <p:nvSpPr>
              <p:cNvPr id="120" name="Google Shape;120;p24"/>
              <p:cNvSpPr/>
              <p:nvPr/>
            </p:nvSpPr>
            <p:spPr>
              <a:xfrm rot="10800000">
                <a:off x="-343440" y="1508040"/>
                <a:ext cx="672840" cy="58248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1" name="Google Shape;121;p24"/>
              <p:cNvSpPr/>
              <p:nvPr/>
            </p:nvSpPr>
            <p:spPr>
              <a:xfrm rot="10800000">
                <a:off x="-138960" y="1817640"/>
                <a:ext cx="480600" cy="41616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 name="Google Shape;122;p24"/>
              <p:cNvSpPr/>
              <p:nvPr/>
            </p:nvSpPr>
            <p:spPr>
              <a:xfrm rot="10800000">
                <a:off x="80280" y="1674360"/>
                <a:ext cx="480600" cy="41616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23" name="Google Shape;123;p24"/>
            <p:cNvSpPr/>
            <p:nvPr/>
          </p:nvSpPr>
          <p:spPr>
            <a:xfrm>
              <a:off x="360" y="-572400"/>
              <a:ext cx="981360" cy="2307600"/>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EB9109"/>
                </a:gs>
                <a:gs pos="40000">
                  <a:srgbClr val="FF9900">
                    <a:alpha val="41176"/>
                  </a:srgbClr>
                </a:gs>
                <a:gs pos="100000">
                  <a:srgbClr val="FFFFFF">
                    <a:alpha val="0"/>
                  </a:srgbClr>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 name="Google Shape;124;p24"/>
            <p:cNvSpPr/>
            <p:nvPr/>
          </p:nvSpPr>
          <p:spPr>
            <a:xfrm>
              <a:off x="-159120" y="-573120"/>
              <a:ext cx="981360" cy="2307600"/>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25" name="Google Shape;125;p24"/>
            <p:cNvGrpSpPr/>
            <p:nvPr/>
          </p:nvGrpSpPr>
          <p:grpSpPr>
            <a:xfrm>
              <a:off x="-519480" y="-466920"/>
              <a:ext cx="699480" cy="1650960"/>
              <a:chOff x="-519480" y="-466920"/>
              <a:chExt cx="699480" cy="1650960"/>
            </a:xfrm>
          </p:grpSpPr>
          <p:sp>
            <p:nvSpPr>
              <p:cNvPr id="126" name="Google Shape;126;p24"/>
              <p:cNvSpPr/>
              <p:nvPr/>
            </p:nvSpPr>
            <p:spPr>
              <a:xfrm rot="10800000">
                <a:off x="-302760" y="170640"/>
                <a:ext cx="482760" cy="1013400"/>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862"/>
                    </a:srgbClr>
                  </a:gs>
                  <a:gs pos="100000">
                    <a:srgbClr val="FFFFFF">
                      <a:alpha val="0"/>
                    </a:srgbClr>
                  </a:gs>
                </a:gsLst>
                <a:lin ang="135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7" name="Google Shape;127;p24"/>
              <p:cNvSpPr/>
              <p:nvPr/>
            </p:nvSpPr>
            <p:spPr>
              <a:xfrm rot="10800000">
                <a:off x="-426960" y="-466920"/>
                <a:ext cx="246600" cy="1226520"/>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862"/>
                    </a:srgbClr>
                  </a:gs>
                  <a:gs pos="100000">
                    <a:srgbClr val="FFFFFF">
                      <a:alpha val="0"/>
                    </a:srgbClr>
                  </a:gs>
                </a:gsLst>
                <a:lin ang="135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 name="Google Shape;128;p24"/>
              <p:cNvSpPr/>
              <p:nvPr/>
            </p:nvSpPr>
            <p:spPr>
              <a:xfrm rot="10800000">
                <a:off x="-519480" y="-373680"/>
                <a:ext cx="246600" cy="1226520"/>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862"/>
                    </a:srgbClr>
                  </a:gs>
                  <a:gs pos="100000">
                    <a:srgbClr val="FFFFFF">
                      <a:alpha val="0"/>
                    </a:srgbClr>
                  </a:gs>
                </a:gsLst>
                <a:lin ang="135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Tree>
  </p:cSld>
  <p:clrMap accent1="accent1" accent2="accent2" accent3="accent3" accent4="accent4" accent5="accent5" accent6="accent6" bg1="lt1" bg2="dk2" tx1="dk1" tx2="lt2" folHlink="folHlink" hlink="hlink"/>
  <p:sldLayoutIdLst>
    <p:sldLayoutId id="214748365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F"/>
        </a:solidFill>
      </p:bgPr>
    </p:bg>
    <p:spTree>
      <p:nvGrpSpPr>
        <p:cNvPr id="135" name="Shape 135"/>
        <p:cNvGrpSpPr/>
        <p:nvPr/>
      </p:nvGrpSpPr>
      <p:grpSpPr>
        <a:xfrm>
          <a:off x="0" y="0"/>
          <a:ext cx="0" cy="0"/>
          <a:chOff x="0" y="0"/>
          <a:chExt cx="0" cy="0"/>
        </a:xfrm>
      </p:grpSpPr>
      <p:sp>
        <p:nvSpPr>
          <p:cNvPr id="136" name="Google Shape;136;p1"/>
          <p:cNvSpPr txBox="1"/>
          <p:nvPr>
            <p:ph idx="1" type="subTitle"/>
          </p:nvPr>
        </p:nvSpPr>
        <p:spPr>
          <a:xfrm>
            <a:off x="1095480" y="3457440"/>
            <a:ext cx="4885920" cy="475920"/>
          </a:xfrm>
          <a:prstGeom prst="rect">
            <a:avLst/>
          </a:prstGeom>
          <a:noFill/>
          <a:ln>
            <a:noFill/>
          </a:ln>
        </p:spPr>
        <p:txBody>
          <a:bodyPr anchorCtr="0" anchor="t" bIns="91425" lIns="91425" spcFirstLastPara="1" rIns="91425" wrap="square" tIns="91425">
            <a:normAutofit fontScale="92500"/>
          </a:bodyPr>
          <a:lstStyle/>
          <a:p>
            <a:pPr indent="0" lvl="0" marL="0" marR="0" rtl="0" algn="l">
              <a:lnSpc>
                <a:spcPct val="100000"/>
              </a:lnSpc>
              <a:spcBef>
                <a:spcPts val="0"/>
              </a:spcBef>
              <a:spcAft>
                <a:spcPts val="0"/>
              </a:spcAft>
              <a:buClr>
                <a:srgbClr val="000000"/>
              </a:buClr>
              <a:buFont typeface="Arial"/>
              <a:buNone/>
            </a:pPr>
            <a:r>
              <a:rPr b="1" lang="en-US" sz="1600">
                <a:solidFill>
                  <a:srgbClr val="EB9109"/>
                </a:solidFill>
                <a:latin typeface="Poppins"/>
                <a:ea typeface="Poppins"/>
                <a:cs typeface="Poppins"/>
                <a:sym typeface="Poppins"/>
              </a:rPr>
              <a:t>One Identity.   Multiple Views.   Zero Confusion</a:t>
            </a:r>
            <a:endParaRPr b="1" i="0" sz="1600" u="none" cap="none" strike="noStrike">
              <a:solidFill>
                <a:srgbClr val="EB9109"/>
              </a:solidFill>
              <a:latin typeface="Noto Sans Symbols"/>
              <a:ea typeface="Noto Sans Symbols"/>
              <a:cs typeface="Noto Sans Symbols"/>
              <a:sym typeface="Noto Sans Symbols"/>
            </a:endParaRPr>
          </a:p>
        </p:txBody>
      </p:sp>
      <p:sp>
        <p:nvSpPr>
          <p:cNvPr id="137" name="Google Shape;137;p1"/>
          <p:cNvSpPr txBox="1"/>
          <p:nvPr>
            <p:ph type="title"/>
          </p:nvPr>
        </p:nvSpPr>
        <p:spPr>
          <a:xfrm>
            <a:off x="1179480" y="655900"/>
            <a:ext cx="6972000" cy="23238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15000"/>
              </a:lnSpc>
              <a:spcBef>
                <a:spcPts val="0"/>
              </a:spcBef>
              <a:spcAft>
                <a:spcPts val="0"/>
              </a:spcAft>
              <a:buClr>
                <a:schemeClr val="dk2"/>
              </a:buClr>
              <a:buSzPct val="100000"/>
              <a:buFont typeface="IBM Plex Mono"/>
              <a:buNone/>
            </a:pPr>
            <a:r>
              <a:t/>
            </a:r>
            <a:endParaRPr b="1" sz="4500">
              <a:solidFill>
                <a:schemeClr val="dk2"/>
              </a:solidFill>
              <a:latin typeface="IBM Plex Mono"/>
              <a:ea typeface="IBM Plex Mono"/>
              <a:cs typeface="IBM Plex Mono"/>
              <a:sym typeface="IBM Plex Mono"/>
            </a:endParaRPr>
          </a:p>
          <a:p>
            <a:pPr indent="0" lvl="0" marL="0" rtl="0" algn="l">
              <a:lnSpc>
                <a:spcPct val="115000"/>
              </a:lnSpc>
              <a:spcBef>
                <a:spcPts val="0"/>
              </a:spcBef>
              <a:spcAft>
                <a:spcPts val="0"/>
              </a:spcAft>
              <a:buClr>
                <a:schemeClr val="dk2"/>
              </a:buClr>
              <a:buSzPct val="100000"/>
              <a:buFont typeface="IBM Plex Mono"/>
              <a:buNone/>
            </a:pPr>
            <a:r>
              <a:t/>
            </a:r>
            <a:endParaRPr b="1" sz="4500">
              <a:solidFill>
                <a:schemeClr val="dk2"/>
              </a:solidFill>
              <a:latin typeface="IBM Plex Mono"/>
              <a:ea typeface="IBM Plex Mono"/>
              <a:cs typeface="IBM Plex Mono"/>
              <a:sym typeface="IBM Plex Mono"/>
            </a:endParaRPr>
          </a:p>
          <a:p>
            <a:pPr indent="0" lvl="0" marL="0" rtl="0" algn="l">
              <a:lnSpc>
                <a:spcPct val="115000"/>
              </a:lnSpc>
              <a:spcBef>
                <a:spcPts val="0"/>
              </a:spcBef>
              <a:spcAft>
                <a:spcPts val="0"/>
              </a:spcAft>
              <a:buClr>
                <a:schemeClr val="dk2"/>
              </a:buClr>
              <a:buSzPct val="100000"/>
              <a:buFont typeface="IBM Plex Mono"/>
              <a:buNone/>
            </a:pPr>
            <a:r>
              <a:t/>
            </a:r>
            <a:endParaRPr b="1" sz="4500">
              <a:solidFill>
                <a:schemeClr val="dk2"/>
              </a:solidFill>
              <a:latin typeface="IBM Plex Mono"/>
              <a:ea typeface="IBM Plex Mono"/>
              <a:cs typeface="IBM Plex Mono"/>
              <a:sym typeface="IBM Plex Mono"/>
            </a:endParaRPr>
          </a:p>
          <a:p>
            <a:pPr indent="0" lvl="0" marL="0" rtl="0" algn="l">
              <a:lnSpc>
                <a:spcPct val="115000"/>
              </a:lnSpc>
              <a:spcBef>
                <a:spcPts val="0"/>
              </a:spcBef>
              <a:spcAft>
                <a:spcPts val="0"/>
              </a:spcAft>
              <a:buClr>
                <a:schemeClr val="dk2"/>
              </a:buClr>
              <a:buSzPct val="100000"/>
              <a:buFont typeface="IBM Plex Mono"/>
              <a:buNone/>
            </a:pPr>
            <a:r>
              <a:t/>
            </a:r>
            <a:endParaRPr b="1" sz="4500">
              <a:solidFill>
                <a:schemeClr val="dk2"/>
              </a:solidFill>
              <a:latin typeface="IBM Plex Mono"/>
              <a:ea typeface="IBM Plex Mono"/>
              <a:cs typeface="IBM Plex Mono"/>
              <a:sym typeface="IBM Plex Mono"/>
            </a:endParaRPr>
          </a:p>
          <a:p>
            <a:pPr indent="0" lvl="0" marL="0" rtl="0" algn="l">
              <a:lnSpc>
                <a:spcPct val="115000"/>
              </a:lnSpc>
              <a:spcBef>
                <a:spcPts val="0"/>
              </a:spcBef>
              <a:spcAft>
                <a:spcPts val="0"/>
              </a:spcAft>
              <a:buClr>
                <a:schemeClr val="dk2"/>
              </a:buClr>
              <a:buSzPct val="100000"/>
              <a:buFont typeface="IBM Plex Mono"/>
              <a:buNone/>
            </a:pPr>
            <a:r>
              <a:rPr b="1" lang="en-US" sz="4500">
                <a:solidFill>
                  <a:schemeClr val="dk2"/>
                </a:solidFill>
                <a:latin typeface="IBM Plex Mono"/>
                <a:ea typeface="IBM Plex Mono"/>
                <a:cs typeface="IBM Plex Mono"/>
                <a:sym typeface="IBM Plex Mono"/>
              </a:rPr>
              <a:t>Multi-Camera Person Re-Identification &amp; Tracking</a:t>
            </a:r>
            <a:endParaRPr b="1" sz="4500">
              <a:solidFill>
                <a:schemeClr val="dk2"/>
              </a:solidFill>
              <a:latin typeface="IBM Plex Mono"/>
              <a:ea typeface="IBM Plex Mono"/>
              <a:cs typeface="IBM Plex Mono"/>
              <a:sym typeface="IBM Plex Mono"/>
            </a:endParaRPr>
          </a:p>
        </p:txBody>
      </p:sp>
      <p:grpSp>
        <p:nvGrpSpPr>
          <p:cNvPr id="138" name="Google Shape;138;p1"/>
          <p:cNvGrpSpPr/>
          <p:nvPr/>
        </p:nvGrpSpPr>
        <p:grpSpPr>
          <a:xfrm>
            <a:off x="1096560" y="3242880"/>
            <a:ext cx="3936600" cy="133560"/>
            <a:chOff x="1096560" y="3242880"/>
            <a:chExt cx="3936600" cy="133560"/>
          </a:xfrm>
        </p:grpSpPr>
        <p:cxnSp>
          <p:nvCxnSpPr>
            <p:cNvPr id="139" name="Google Shape;139;p1"/>
            <p:cNvCxnSpPr/>
            <p:nvPr/>
          </p:nvCxnSpPr>
          <p:spPr>
            <a:xfrm>
              <a:off x="1096560" y="3309840"/>
              <a:ext cx="3841200" cy="360"/>
            </a:xfrm>
            <a:prstGeom prst="straightConnector1">
              <a:avLst/>
            </a:prstGeom>
            <a:noFill/>
            <a:ln cap="flat" cmpd="sng" w="9525">
              <a:solidFill>
                <a:srgbClr val="0C0A9E"/>
              </a:solidFill>
              <a:prstDash val="solid"/>
              <a:round/>
              <a:headEnd len="sm" w="sm" type="none"/>
              <a:tailEnd len="sm" w="sm" type="none"/>
            </a:ln>
          </p:spPr>
        </p:cxnSp>
        <p:grpSp>
          <p:nvGrpSpPr>
            <p:cNvPr id="140" name="Google Shape;140;p1"/>
            <p:cNvGrpSpPr/>
            <p:nvPr/>
          </p:nvGrpSpPr>
          <p:grpSpPr>
            <a:xfrm>
              <a:off x="4899600" y="3242880"/>
              <a:ext cx="133560" cy="133560"/>
              <a:chOff x="4899600" y="3242880"/>
              <a:chExt cx="133560" cy="133560"/>
            </a:xfrm>
          </p:grpSpPr>
          <p:sp>
            <p:nvSpPr>
              <p:cNvPr id="141" name="Google Shape;141;p1"/>
              <p:cNvSpPr/>
              <p:nvPr/>
            </p:nvSpPr>
            <p:spPr>
              <a:xfrm>
                <a:off x="4929480" y="3273120"/>
                <a:ext cx="73440" cy="73440"/>
              </a:xfrm>
              <a:prstGeom prst="ellipse">
                <a:avLst/>
              </a:prstGeom>
              <a:solidFill>
                <a:schemeClr val="dk2"/>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2" name="Google Shape;142;p1"/>
              <p:cNvSpPr/>
              <p:nvPr/>
            </p:nvSpPr>
            <p:spPr>
              <a:xfrm>
                <a:off x="4899600" y="3242880"/>
                <a:ext cx="133560" cy="133560"/>
              </a:xfrm>
              <a:prstGeom prst="ellipse">
                <a:avLst/>
              </a:prstGeom>
              <a:noFill/>
              <a:ln cap="flat" cmpd="sng" w="9525">
                <a:solidFill>
                  <a:srgbClr val="0C0A9E"/>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143" name="Google Shape;143;p1"/>
          <p:cNvGrpSpPr/>
          <p:nvPr/>
        </p:nvGrpSpPr>
        <p:grpSpPr>
          <a:xfrm>
            <a:off x="8017920" y="-313560"/>
            <a:ext cx="133560" cy="1890360"/>
            <a:chOff x="8017920" y="-313560"/>
            <a:chExt cx="133560" cy="1890360"/>
          </a:xfrm>
        </p:grpSpPr>
        <p:sp>
          <p:nvSpPr>
            <p:cNvPr id="144" name="Google Shape;144;p1"/>
            <p:cNvSpPr/>
            <p:nvPr/>
          </p:nvSpPr>
          <p:spPr>
            <a:xfrm rot="5400000">
              <a:off x="8017920" y="1443240"/>
              <a:ext cx="133560" cy="133560"/>
            </a:xfrm>
            <a:prstGeom prst="ellipse">
              <a:avLst/>
            </a:prstGeom>
            <a:noFill/>
            <a:ln cap="flat" cmpd="sng" w="9525">
              <a:solidFill>
                <a:srgbClr val="0C0A9E"/>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cxnSp>
          <p:nvCxnSpPr>
            <p:cNvPr id="145" name="Google Shape;145;p1"/>
            <p:cNvCxnSpPr/>
            <p:nvPr/>
          </p:nvCxnSpPr>
          <p:spPr>
            <a:xfrm>
              <a:off x="8084160" y="-313560"/>
              <a:ext cx="360" cy="1794960"/>
            </a:xfrm>
            <a:prstGeom prst="straightConnector1">
              <a:avLst/>
            </a:prstGeom>
            <a:noFill/>
            <a:ln cap="flat" cmpd="sng" w="9525">
              <a:solidFill>
                <a:srgbClr val="0C0A9E"/>
              </a:solidFill>
              <a:prstDash val="solid"/>
              <a:round/>
              <a:headEnd len="sm" w="sm" type="none"/>
              <a:tailEnd len="sm" w="sm" type="none"/>
            </a:ln>
          </p:spPr>
        </p:cxnSp>
        <p:sp>
          <p:nvSpPr>
            <p:cNvPr id="146" name="Google Shape;146;p1"/>
            <p:cNvSpPr/>
            <p:nvPr/>
          </p:nvSpPr>
          <p:spPr>
            <a:xfrm rot="5400000">
              <a:off x="8047800" y="1473480"/>
              <a:ext cx="73440" cy="73440"/>
            </a:xfrm>
            <a:prstGeom prst="ellipse">
              <a:avLst/>
            </a:prstGeom>
            <a:solidFill>
              <a:schemeClr val="dk2"/>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47" name="Google Shape;147;p1"/>
          <p:cNvGrpSpPr/>
          <p:nvPr/>
        </p:nvGrpSpPr>
        <p:grpSpPr>
          <a:xfrm>
            <a:off x="6309360" y="957600"/>
            <a:ext cx="3504780" cy="5118840"/>
            <a:chOff x="6309360" y="957600"/>
            <a:chExt cx="3504780" cy="5118840"/>
          </a:xfrm>
        </p:grpSpPr>
        <p:sp>
          <p:nvSpPr>
            <p:cNvPr id="148" name="Google Shape;148;p1"/>
            <p:cNvSpPr/>
            <p:nvPr/>
          </p:nvSpPr>
          <p:spPr>
            <a:xfrm>
              <a:off x="6309360" y="957600"/>
              <a:ext cx="3152880" cy="5118840"/>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49" name="Google Shape;149;p1"/>
            <p:cNvGrpSpPr/>
            <p:nvPr/>
          </p:nvGrpSpPr>
          <p:grpSpPr>
            <a:xfrm>
              <a:off x="7728480" y="3644640"/>
              <a:ext cx="133560" cy="133560"/>
              <a:chOff x="7728480" y="3644640"/>
              <a:chExt cx="133560" cy="133560"/>
            </a:xfrm>
          </p:grpSpPr>
          <p:sp>
            <p:nvSpPr>
              <p:cNvPr id="150" name="Google Shape;150;p1"/>
              <p:cNvSpPr/>
              <p:nvPr/>
            </p:nvSpPr>
            <p:spPr>
              <a:xfrm>
                <a:off x="7728480" y="3644640"/>
                <a:ext cx="133560" cy="13356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1" name="Google Shape;151;p1"/>
              <p:cNvSpPr/>
              <p:nvPr/>
            </p:nvSpPr>
            <p:spPr>
              <a:xfrm>
                <a:off x="7747200" y="3663360"/>
                <a:ext cx="95760" cy="9576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52" name="Google Shape;152;p1"/>
            <p:cNvGrpSpPr/>
            <p:nvPr/>
          </p:nvGrpSpPr>
          <p:grpSpPr>
            <a:xfrm>
              <a:off x="7344360" y="3270960"/>
              <a:ext cx="133560" cy="133560"/>
              <a:chOff x="7344360" y="3270960"/>
              <a:chExt cx="133560" cy="133560"/>
            </a:xfrm>
          </p:grpSpPr>
          <p:sp>
            <p:nvSpPr>
              <p:cNvPr id="153" name="Google Shape;153;p1"/>
              <p:cNvSpPr/>
              <p:nvPr/>
            </p:nvSpPr>
            <p:spPr>
              <a:xfrm>
                <a:off x="7344360" y="3270960"/>
                <a:ext cx="133560" cy="13356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 name="Google Shape;154;p1"/>
              <p:cNvSpPr/>
              <p:nvPr/>
            </p:nvSpPr>
            <p:spPr>
              <a:xfrm>
                <a:off x="7363440" y="3289680"/>
                <a:ext cx="95760" cy="9576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55" name="Google Shape;155;p1"/>
            <p:cNvGrpSpPr/>
            <p:nvPr/>
          </p:nvGrpSpPr>
          <p:grpSpPr>
            <a:xfrm>
              <a:off x="8337960" y="2584440"/>
              <a:ext cx="133560" cy="133560"/>
              <a:chOff x="8337960" y="2584440"/>
              <a:chExt cx="133560" cy="133560"/>
            </a:xfrm>
          </p:grpSpPr>
          <p:sp>
            <p:nvSpPr>
              <p:cNvPr id="156" name="Google Shape;156;p1"/>
              <p:cNvSpPr/>
              <p:nvPr/>
            </p:nvSpPr>
            <p:spPr>
              <a:xfrm>
                <a:off x="8337960" y="2584440"/>
                <a:ext cx="133560" cy="13356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7" name="Google Shape;157;p1"/>
              <p:cNvSpPr/>
              <p:nvPr/>
            </p:nvSpPr>
            <p:spPr>
              <a:xfrm>
                <a:off x="8356680" y="2603520"/>
                <a:ext cx="95760" cy="9576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58" name="Google Shape;158;p1"/>
            <p:cNvSpPr/>
            <p:nvPr/>
          </p:nvSpPr>
          <p:spPr>
            <a:xfrm rot="5400000">
              <a:off x="7687440" y="1143360"/>
              <a:ext cx="1420560" cy="2832840"/>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0C0A9E"/>
                </a:gs>
                <a:gs pos="100000">
                  <a:srgbClr val="FFFFFF">
                    <a:alpha val="0"/>
                  </a:srgbClr>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pic>
        <p:nvPicPr>
          <p:cNvPr id="159" name="Google Shape;159;p1"/>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4"/>
          <p:cNvSpPr/>
          <p:nvPr/>
        </p:nvSpPr>
        <p:spPr>
          <a:xfrm>
            <a:off x="476475" y="150051"/>
            <a:ext cx="8191200" cy="7569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Problem / Opportunity</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165" name="Google Shape;165;p4"/>
          <p:cNvSpPr/>
          <p:nvPr/>
        </p:nvSpPr>
        <p:spPr>
          <a:xfrm>
            <a:off x="426275" y="1037400"/>
            <a:ext cx="8536200" cy="4106100"/>
          </a:xfrm>
          <a:prstGeom prst="rect">
            <a:avLst/>
          </a:prstGeom>
          <a:noFill/>
          <a:ln>
            <a:noFill/>
          </a:ln>
        </p:spPr>
        <p:txBody>
          <a:bodyPr anchorCtr="0" anchor="t" bIns="45700" lIns="91425" spcFirstLastPara="1" rIns="91425" wrap="square" tIns="45700">
            <a:normAutofit/>
          </a:bodyPr>
          <a:lstStyle/>
          <a:p>
            <a:pPr indent="-336550" lvl="0" marL="457200" marR="0" rtl="0" algn="l">
              <a:lnSpc>
                <a:spcPct val="150000"/>
              </a:lnSpc>
              <a:spcBef>
                <a:spcPts val="0"/>
              </a:spcBef>
              <a:spcAft>
                <a:spcPts val="0"/>
              </a:spcAft>
              <a:buClr>
                <a:schemeClr val="dk1"/>
              </a:buClr>
              <a:buSzPts val="1700"/>
              <a:buFont typeface="Poppins"/>
              <a:buChar char="●"/>
            </a:pPr>
            <a:r>
              <a:rPr lang="en-US" sz="1700">
                <a:solidFill>
                  <a:schemeClr val="dk1"/>
                </a:solidFill>
                <a:latin typeface="Poppins"/>
                <a:ea typeface="Poppins"/>
                <a:cs typeface="Poppins"/>
                <a:sym typeface="Poppins"/>
              </a:rPr>
              <a:t>Tracking individuals across multiple camera feeds is a major challenge in surveillance systems.</a:t>
            </a:r>
            <a:endParaRPr sz="1700">
              <a:solidFill>
                <a:schemeClr val="dk1"/>
              </a:solidFill>
              <a:latin typeface="Poppins"/>
              <a:ea typeface="Poppins"/>
              <a:cs typeface="Poppins"/>
              <a:sym typeface="Poppins"/>
            </a:endParaRPr>
          </a:p>
          <a:p>
            <a:pPr indent="-336550" lvl="0" marL="457200" marR="0" rtl="0" algn="l">
              <a:lnSpc>
                <a:spcPct val="150000"/>
              </a:lnSpc>
              <a:spcBef>
                <a:spcPts val="0"/>
              </a:spcBef>
              <a:spcAft>
                <a:spcPts val="0"/>
              </a:spcAft>
              <a:buClr>
                <a:schemeClr val="dk1"/>
              </a:buClr>
              <a:buSzPts val="1700"/>
              <a:buFont typeface="Poppins"/>
              <a:buChar char="●"/>
            </a:pPr>
            <a:r>
              <a:rPr lang="en-US" sz="1700">
                <a:solidFill>
                  <a:schemeClr val="dk1"/>
                </a:solidFill>
                <a:latin typeface="Poppins"/>
                <a:ea typeface="Poppins"/>
                <a:cs typeface="Poppins"/>
                <a:sym typeface="Poppins"/>
              </a:rPr>
              <a:t>Operators lose visibility when a person moves out of one camera and into another.</a:t>
            </a:r>
            <a:endParaRPr sz="1700">
              <a:solidFill>
                <a:schemeClr val="dk1"/>
              </a:solidFill>
              <a:latin typeface="Poppins"/>
              <a:ea typeface="Poppins"/>
              <a:cs typeface="Poppins"/>
              <a:sym typeface="Poppins"/>
            </a:endParaRPr>
          </a:p>
          <a:p>
            <a:pPr indent="-336550" lvl="0" marL="457200" marR="0" rtl="0" algn="l">
              <a:lnSpc>
                <a:spcPct val="150000"/>
              </a:lnSpc>
              <a:spcBef>
                <a:spcPts val="0"/>
              </a:spcBef>
              <a:spcAft>
                <a:spcPts val="0"/>
              </a:spcAft>
              <a:buClr>
                <a:schemeClr val="dk1"/>
              </a:buClr>
              <a:buSzPts val="1700"/>
              <a:buFont typeface="Poppins"/>
              <a:buChar char="●"/>
            </a:pPr>
            <a:r>
              <a:rPr lang="en-US" sz="1700">
                <a:solidFill>
                  <a:schemeClr val="dk1"/>
                </a:solidFill>
                <a:latin typeface="Poppins"/>
                <a:ea typeface="Poppins"/>
                <a:cs typeface="Poppins"/>
                <a:sym typeface="Poppins"/>
              </a:rPr>
              <a:t>Manual monitoring of multiple feeds is inefficient, error-prone, and not scalable.</a:t>
            </a:r>
            <a:endParaRPr sz="1700">
              <a:solidFill>
                <a:schemeClr val="dk1"/>
              </a:solidFill>
              <a:latin typeface="Poppins"/>
              <a:ea typeface="Poppins"/>
              <a:cs typeface="Poppins"/>
              <a:sym typeface="Poppins"/>
            </a:endParaRPr>
          </a:p>
          <a:p>
            <a:pPr indent="-336550" lvl="0" marL="457200" marR="0" rtl="0" algn="l">
              <a:lnSpc>
                <a:spcPct val="150000"/>
              </a:lnSpc>
              <a:spcBef>
                <a:spcPts val="0"/>
              </a:spcBef>
              <a:spcAft>
                <a:spcPts val="0"/>
              </a:spcAft>
              <a:buClr>
                <a:schemeClr val="dk1"/>
              </a:buClr>
              <a:buSzPts val="1700"/>
              <a:buFont typeface="Poppins"/>
              <a:buChar char="●"/>
            </a:pPr>
            <a:r>
              <a:rPr lang="en-US" sz="1700">
                <a:solidFill>
                  <a:schemeClr val="dk1"/>
                </a:solidFill>
                <a:latin typeface="Poppins"/>
                <a:ea typeface="Poppins"/>
                <a:cs typeface="Poppins"/>
                <a:sym typeface="Poppins"/>
              </a:rPr>
              <a:t>Lack of automation leads to delayed response in </a:t>
            </a:r>
            <a:endParaRPr sz="1700">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rPr lang="en-US" sz="1700">
                <a:solidFill>
                  <a:schemeClr val="dk1"/>
                </a:solidFill>
                <a:latin typeface="Poppins"/>
                <a:ea typeface="Poppins"/>
                <a:cs typeface="Poppins"/>
                <a:sym typeface="Poppins"/>
              </a:rPr>
              <a:t>critical security scenarios.</a:t>
            </a:r>
            <a:endParaRPr sz="1700">
              <a:solidFill>
                <a:schemeClr val="dk1"/>
              </a:solidFill>
              <a:latin typeface="Poppins"/>
              <a:ea typeface="Poppins"/>
              <a:cs typeface="Poppins"/>
              <a:sym typeface="Poppins"/>
            </a:endParaRPr>
          </a:p>
          <a:p>
            <a:pPr indent="-336550" lvl="0" marL="457200" marR="0" rtl="0" algn="l">
              <a:lnSpc>
                <a:spcPct val="150000"/>
              </a:lnSpc>
              <a:spcBef>
                <a:spcPts val="0"/>
              </a:spcBef>
              <a:spcAft>
                <a:spcPts val="0"/>
              </a:spcAft>
              <a:buClr>
                <a:schemeClr val="dk1"/>
              </a:buClr>
              <a:buSzPts val="1700"/>
              <a:buFont typeface="Poppins"/>
              <a:buChar char="●"/>
            </a:pPr>
            <a:r>
              <a:rPr lang="en-US" sz="1700">
                <a:solidFill>
                  <a:schemeClr val="dk1"/>
                </a:solidFill>
                <a:latin typeface="Poppins"/>
                <a:ea typeface="Poppins"/>
                <a:cs typeface="Poppins"/>
                <a:sym typeface="Poppins"/>
              </a:rPr>
              <a:t>This problem is important in smart cities, airports, malls, </a:t>
            </a:r>
            <a:endParaRPr sz="1700">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rPr lang="en-US" sz="1700">
                <a:solidFill>
                  <a:schemeClr val="dk1"/>
                </a:solidFill>
                <a:latin typeface="Poppins"/>
                <a:ea typeface="Poppins"/>
                <a:cs typeface="Poppins"/>
                <a:sym typeface="Poppins"/>
              </a:rPr>
              <a:t>and security operations.</a:t>
            </a:r>
            <a:endParaRPr sz="17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t/>
            </a:r>
            <a:endParaRPr sz="1700">
              <a:solidFill>
                <a:schemeClr val="dk1"/>
              </a:solidFill>
              <a:latin typeface="Poppins"/>
              <a:ea typeface="Poppins"/>
              <a:cs typeface="Poppins"/>
              <a:sym typeface="Poppins"/>
            </a:endParaRPr>
          </a:p>
        </p:txBody>
      </p:sp>
      <p:pic>
        <p:nvPicPr>
          <p:cNvPr id="166" name="Google Shape;166;p4"/>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e6d78a5f59_0_40"/>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Solution</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172" name="Google Shape;172;g3e6d78a5f59_0_40"/>
          <p:cNvSpPr/>
          <p:nvPr/>
        </p:nvSpPr>
        <p:spPr>
          <a:xfrm>
            <a:off x="426275" y="1037400"/>
            <a:ext cx="8536200" cy="41061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We developed a real-time multi-camera tracking system using AI.</a:t>
            </a:r>
            <a:endParaRPr sz="1800">
              <a:solidFill>
                <a:schemeClr val="dk1"/>
              </a:solidFill>
              <a:latin typeface="Poppins"/>
              <a:ea typeface="Poppins"/>
              <a:cs typeface="Poppins"/>
              <a:sym typeface="Poppins"/>
            </a:endParaRPr>
          </a:p>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The system detects and tracks multiple people across camera feeds.</a:t>
            </a:r>
            <a:endParaRPr sz="1800">
              <a:solidFill>
                <a:schemeClr val="dk1"/>
              </a:solidFill>
              <a:latin typeface="Poppins"/>
              <a:ea typeface="Poppins"/>
              <a:cs typeface="Poppins"/>
              <a:sym typeface="Poppins"/>
            </a:endParaRPr>
          </a:p>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A user can manually sele</a:t>
            </a:r>
            <a:r>
              <a:rPr lang="en-US" sz="1800">
                <a:solidFill>
                  <a:schemeClr val="dk1"/>
                </a:solidFill>
                <a:latin typeface="Poppins"/>
                <a:ea typeface="Poppins"/>
                <a:cs typeface="Poppins"/>
                <a:sym typeface="Poppins"/>
              </a:rPr>
              <a:t>ct a target person using a simple click interface.</a:t>
            </a:r>
            <a:endParaRPr sz="1800">
              <a:solidFill>
                <a:schemeClr val="dk1"/>
              </a:solidFill>
              <a:latin typeface="Poppins"/>
              <a:ea typeface="Poppins"/>
              <a:cs typeface="Poppins"/>
              <a:sym typeface="Poppins"/>
            </a:endParaRPr>
          </a:p>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Once selected, the system continuously tracks the individual within the camera.</a:t>
            </a:r>
            <a:endParaRPr sz="1800">
              <a:solidFill>
                <a:schemeClr val="dk1"/>
              </a:solidFill>
              <a:latin typeface="Poppins"/>
              <a:ea typeface="Poppins"/>
              <a:cs typeface="Poppins"/>
              <a:sym typeface="Poppins"/>
            </a:endParaRPr>
          </a:p>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PTZ cameras automatically adjust (pan/tilt)</a:t>
            </a:r>
            <a:endParaRPr sz="1800">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rPr lang="en-US" sz="1800">
                <a:solidFill>
                  <a:schemeClr val="dk1"/>
                </a:solidFill>
                <a:latin typeface="Poppins"/>
                <a:ea typeface="Poppins"/>
                <a:cs typeface="Poppins"/>
                <a:sym typeface="Poppins"/>
              </a:rPr>
              <a:t>to keep the target centered.</a:t>
            </a:r>
            <a:endParaRPr sz="1800">
              <a:solidFill>
                <a:schemeClr val="dk1"/>
              </a:solidFill>
              <a:latin typeface="Poppins"/>
              <a:ea typeface="Poppins"/>
              <a:cs typeface="Poppins"/>
              <a:sym typeface="Poppins"/>
            </a:endParaRPr>
          </a:p>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The system ensures smooth tracking using jitter </a:t>
            </a:r>
            <a:endParaRPr sz="1800">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rPr lang="en-US" sz="1800">
                <a:solidFill>
                  <a:schemeClr val="dk1"/>
                </a:solidFill>
                <a:latin typeface="Poppins"/>
                <a:ea typeface="Poppins"/>
                <a:cs typeface="Poppins"/>
                <a:sym typeface="Poppins"/>
              </a:rPr>
              <a:t>reduction and dead-zone logic.</a:t>
            </a:r>
            <a:endParaRPr sz="1800">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t/>
            </a:r>
            <a:endParaRPr>
              <a:solidFill>
                <a:schemeClr val="dk1"/>
              </a:solidFill>
              <a:latin typeface="Poppins"/>
              <a:ea typeface="Poppins"/>
              <a:cs typeface="Poppins"/>
              <a:sym typeface="Poppins"/>
            </a:endParaRPr>
          </a:p>
        </p:txBody>
      </p:sp>
      <p:pic>
        <p:nvPicPr>
          <p:cNvPr id="173" name="Google Shape;173;g3e6d78a5f59_0_40"/>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6d78a5f59_0_35"/>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System Overview</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179" name="Google Shape;179;g3e6d78a5f59_0_35"/>
          <p:cNvSpPr/>
          <p:nvPr/>
        </p:nvSpPr>
        <p:spPr>
          <a:xfrm>
            <a:off x="426275" y="863400"/>
            <a:ext cx="8536200" cy="4280100"/>
          </a:xfrm>
          <a:prstGeom prst="rect">
            <a:avLst/>
          </a:prstGeom>
          <a:noFill/>
          <a:ln>
            <a:noFill/>
          </a:ln>
        </p:spPr>
        <p:txBody>
          <a:bodyPr anchorCtr="0" anchor="t" bIns="45700" lIns="91425" spcFirstLastPara="1" rIns="91425" wrap="square" tIns="45700">
            <a:noAutofit/>
          </a:bodyPr>
          <a:lstStyle/>
          <a:p>
            <a:pPr indent="-336550" lvl="0" marL="457200" marR="0" rtl="0" algn="l">
              <a:lnSpc>
                <a:spcPct val="150000"/>
              </a:lnSpc>
              <a:spcBef>
                <a:spcPts val="0"/>
              </a:spcBef>
              <a:spcAft>
                <a:spcPts val="0"/>
              </a:spcAft>
              <a:buClr>
                <a:schemeClr val="dk1"/>
              </a:buClr>
              <a:buSzPts val="1700"/>
              <a:buFont typeface="Poppins"/>
              <a:buChar char="●"/>
            </a:pPr>
            <a:r>
              <a:rPr lang="en-US" sz="1700">
                <a:solidFill>
                  <a:schemeClr val="dk1"/>
                </a:solidFill>
                <a:latin typeface="Poppins"/>
                <a:ea typeface="Poppins"/>
                <a:cs typeface="Poppins"/>
                <a:sym typeface="Poppins"/>
              </a:rPr>
              <a:t>The system processes multiple RTSP camera streams simultaneously using ONVIF protocol.</a:t>
            </a:r>
            <a:endParaRPr sz="1700">
              <a:solidFill>
                <a:schemeClr val="dk1"/>
              </a:solidFill>
              <a:latin typeface="Poppins"/>
              <a:ea typeface="Poppins"/>
              <a:cs typeface="Poppins"/>
              <a:sym typeface="Poppins"/>
            </a:endParaRPr>
          </a:p>
          <a:p>
            <a:pPr indent="-336550" lvl="0" marL="457200" marR="0" rtl="0" algn="l">
              <a:lnSpc>
                <a:spcPct val="150000"/>
              </a:lnSpc>
              <a:spcBef>
                <a:spcPts val="0"/>
              </a:spcBef>
              <a:spcAft>
                <a:spcPts val="0"/>
              </a:spcAft>
              <a:buClr>
                <a:schemeClr val="dk1"/>
              </a:buClr>
              <a:buSzPts val="1700"/>
              <a:buFont typeface="Poppins"/>
              <a:buChar char="●"/>
            </a:pPr>
            <a:r>
              <a:rPr lang="en-US" sz="1700">
                <a:solidFill>
                  <a:schemeClr val="dk1"/>
                </a:solidFill>
                <a:latin typeface="Poppins"/>
                <a:ea typeface="Poppins"/>
                <a:cs typeface="Poppins"/>
                <a:sym typeface="Poppins"/>
              </a:rPr>
              <a:t>Each camera feed is handled using threaded frame readers for low latency.</a:t>
            </a:r>
            <a:endParaRPr sz="1700">
              <a:solidFill>
                <a:schemeClr val="dk1"/>
              </a:solidFill>
              <a:latin typeface="Poppins"/>
              <a:ea typeface="Poppins"/>
              <a:cs typeface="Poppins"/>
              <a:sym typeface="Poppins"/>
            </a:endParaRPr>
          </a:p>
          <a:p>
            <a:pPr indent="-336550" lvl="0" marL="457200" marR="0" rtl="0" algn="l">
              <a:lnSpc>
                <a:spcPct val="150000"/>
              </a:lnSpc>
              <a:spcBef>
                <a:spcPts val="0"/>
              </a:spcBef>
              <a:spcAft>
                <a:spcPts val="0"/>
              </a:spcAft>
              <a:buClr>
                <a:schemeClr val="dk1"/>
              </a:buClr>
              <a:buSzPts val="1700"/>
              <a:buFont typeface="Poppins"/>
              <a:buChar char="●"/>
            </a:pPr>
            <a:r>
              <a:rPr lang="en-US" sz="1700">
                <a:solidFill>
                  <a:schemeClr val="dk1"/>
                </a:solidFill>
                <a:latin typeface="Poppins"/>
                <a:ea typeface="Poppins"/>
                <a:cs typeface="Poppins"/>
                <a:sym typeface="Poppins"/>
              </a:rPr>
              <a:t>Person detection is performed using a deep learning model (YOLOv11).</a:t>
            </a:r>
            <a:endParaRPr sz="1700">
              <a:solidFill>
                <a:schemeClr val="dk1"/>
              </a:solidFill>
              <a:latin typeface="Poppins"/>
              <a:ea typeface="Poppins"/>
              <a:cs typeface="Poppins"/>
              <a:sym typeface="Poppins"/>
            </a:endParaRPr>
          </a:p>
          <a:p>
            <a:pPr indent="-336550" lvl="0" marL="457200" marR="0" rtl="0" algn="l">
              <a:lnSpc>
                <a:spcPct val="150000"/>
              </a:lnSpc>
              <a:spcBef>
                <a:spcPts val="0"/>
              </a:spcBef>
              <a:spcAft>
                <a:spcPts val="0"/>
              </a:spcAft>
              <a:buClr>
                <a:schemeClr val="dk1"/>
              </a:buClr>
              <a:buSzPts val="1700"/>
              <a:buFont typeface="Poppins"/>
              <a:buChar char="●"/>
            </a:pPr>
            <a:r>
              <a:rPr lang="en-US" sz="1700">
                <a:solidFill>
                  <a:schemeClr val="dk1"/>
                </a:solidFill>
                <a:latin typeface="Poppins"/>
                <a:ea typeface="Poppins"/>
                <a:cs typeface="Poppins"/>
                <a:sym typeface="Poppins"/>
              </a:rPr>
              <a:t>Detected individuals are tracked using DeepSORT with unique IDs.</a:t>
            </a:r>
            <a:endParaRPr sz="1700">
              <a:solidFill>
                <a:schemeClr val="dk1"/>
              </a:solidFill>
              <a:latin typeface="Poppins"/>
              <a:ea typeface="Poppins"/>
              <a:cs typeface="Poppins"/>
              <a:sym typeface="Poppins"/>
            </a:endParaRPr>
          </a:p>
          <a:p>
            <a:pPr indent="-336550" lvl="0" marL="457200" marR="0" rtl="0" algn="l">
              <a:lnSpc>
                <a:spcPct val="150000"/>
              </a:lnSpc>
              <a:spcBef>
                <a:spcPts val="0"/>
              </a:spcBef>
              <a:spcAft>
                <a:spcPts val="0"/>
              </a:spcAft>
              <a:buClr>
                <a:schemeClr val="dk1"/>
              </a:buClr>
              <a:buSzPts val="1700"/>
              <a:buFont typeface="Poppins"/>
              <a:buChar char="●"/>
            </a:pPr>
            <a:r>
              <a:rPr lang="en-US" sz="1700">
                <a:solidFill>
                  <a:schemeClr val="dk1"/>
                </a:solidFill>
                <a:latin typeface="Poppins"/>
                <a:ea typeface="Poppins"/>
                <a:cs typeface="Poppins"/>
                <a:sym typeface="Poppins"/>
              </a:rPr>
              <a:t>A user interface allows selection of a target individual</a:t>
            </a:r>
            <a:endParaRPr sz="1700">
              <a:solidFill>
                <a:schemeClr val="dk1"/>
              </a:solidFill>
              <a:latin typeface="Poppins"/>
              <a:ea typeface="Poppins"/>
              <a:cs typeface="Poppins"/>
              <a:sym typeface="Poppins"/>
            </a:endParaRPr>
          </a:p>
          <a:p>
            <a:pPr indent="-336550" lvl="0" marL="457200" marR="0" rtl="0" algn="l">
              <a:lnSpc>
                <a:spcPct val="150000"/>
              </a:lnSpc>
              <a:spcBef>
                <a:spcPts val="0"/>
              </a:spcBef>
              <a:spcAft>
                <a:spcPts val="0"/>
              </a:spcAft>
              <a:buClr>
                <a:schemeClr val="dk1"/>
              </a:buClr>
              <a:buSzPts val="1700"/>
              <a:buFont typeface="Poppins"/>
              <a:buChar char="●"/>
            </a:pPr>
            <a:r>
              <a:rPr lang="en-US" sz="1700">
                <a:solidFill>
                  <a:schemeClr val="dk1"/>
                </a:solidFill>
                <a:latin typeface="Poppins"/>
                <a:ea typeface="Poppins"/>
                <a:cs typeface="Poppins"/>
                <a:sym typeface="Poppins"/>
              </a:rPr>
              <a:t>The PTZ control module ensures automatic camera </a:t>
            </a:r>
            <a:endParaRPr sz="1700">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rPr lang="en-US" sz="1700">
                <a:solidFill>
                  <a:schemeClr val="dk1"/>
                </a:solidFill>
                <a:latin typeface="Poppins"/>
                <a:ea typeface="Poppins"/>
                <a:cs typeface="Poppins"/>
                <a:sym typeface="Poppins"/>
              </a:rPr>
              <a:t>movement for tracking.</a:t>
            </a:r>
            <a:endParaRPr sz="1700">
              <a:solidFill>
                <a:schemeClr val="dk1"/>
              </a:solidFill>
              <a:latin typeface="Poppins"/>
              <a:ea typeface="Poppins"/>
              <a:cs typeface="Poppins"/>
              <a:sym typeface="Poppins"/>
            </a:endParaRPr>
          </a:p>
          <a:p>
            <a:pPr indent="-336550" lvl="0" marL="457200" marR="0" rtl="0" algn="l">
              <a:lnSpc>
                <a:spcPct val="150000"/>
              </a:lnSpc>
              <a:spcBef>
                <a:spcPts val="0"/>
              </a:spcBef>
              <a:spcAft>
                <a:spcPts val="0"/>
              </a:spcAft>
              <a:buClr>
                <a:schemeClr val="dk1"/>
              </a:buClr>
              <a:buSzPts val="1700"/>
              <a:buFont typeface="Poppins"/>
              <a:buChar char="●"/>
            </a:pPr>
            <a:r>
              <a:rPr lang="en-US" sz="1700">
                <a:solidFill>
                  <a:schemeClr val="dk1"/>
                </a:solidFill>
                <a:latin typeface="Poppins"/>
                <a:ea typeface="Poppins"/>
                <a:cs typeface="Poppins"/>
                <a:sym typeface="Poppins"/>
              </a:rPr>
              <a:t>Output is visualized in real-time with bounding  </a:t>
            </a:r>
            <a:endParaRPr sz="1700">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rPr lang="en-US" sz="1700">
                <a:solidFill>
                  <a:schemeClr val="dk1"/>
                </a:solidFill>
                <a:latin typeface="Poppins"/>
                <a:ea typeface="Poppins"/>
                <a:cs typeface="Poppins"/>
                <a:sym typeface="Poppins"/>
              </a:rPr>
              <a:t>boxes and IDs.</a:t>
            </a:r>
            <a:endParaRPr sz="17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t/>
            </a:r>
            <a:endParaRPr sz="1700">
              <a:solidFill>
                <a:schemeClr val="dk1"/>
              </a:solidFill>
              <a:latin typeface="Poppins"/>
              <a:ea typeface="Poppins"/>
              <a:cs typeface="Poppins"/>
              <a:sym typeface="Poppins"/>
            </a:endParaRPr>
          </a:p>
        </p:txBody>
      </p:sp>
      <p:pic>
        <p:nvPicPr>
          <p:cNvPr id="180" name="Google Shape;180;g3e6d78a5f59_0_35"/>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e6d78a5f59_0_30"/>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Person Detection</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186" name="Google Shape;186;g3e6d78a5f59_0_30"/>
          <p:cNvSpPr/>
          <p:nvPr/>
        </p:nvSpPr>
        <p:spPr>
          <a:xfrm>
            <a:off x="426275" y="906950"/>
            <a:ext cx="8536200" cy="4236600"/>
          </a:xfrm>
          <a:prstGeom prst="rect">
            <a:avLst/>
          </a:prstGeom>
          <a:noFill/>
          <a:ln>
            <a:noFill/>
          </a:ln>
        </p:spPr>
        <p:txBody>
          <a:bodyPr anchorCtr="0" anchor="t" bIns="45700" lIns="91425" spcFirstLastPara="1" rIns="91425" wrap="square" tIns="45700">
            <a:noAutofit/>
          </a:bodyPr>
          <a:lstStyle/>
          <a:p>
            <a:pPr indent="-330200" lvl="0" marL="457200" marR="0" rtl="0" algn="l">
              <a:lnSpc>
                <a:spcPct val="150000"/>
              </a:lnSpc>
              <a:spcBef>
                <a:spcPts val="0"/>
              </a:spcBef>
              <a:spcAft>
                <a:spcPts val="0"/>
              </a:spcAft>
              <a:buClr>
                <a:schemeClr val="dk1"/>
              </a:buClr>
              <a:buSzPts val="1600"/>
              <a:buFont typeface="Poppins"/>
              <a:buChar char="●"/>
            </a:pPr>
            <a:r>
              <a:rPr lang="en-US" sz="1600">
                <a:solidFill>
                  <a:schemeClr val="dk1"/>
                </a:solidFill>
                <a:latin typeface="Poppins"/>
                <a:ea typeface="Poppins"/>
                <a:cs typeface="Poppins"/>
                <a:sym typeface="Poppins"/>
              </a:rPr>
              <a:t>Uses YOLOv11 (Ultralytics) for real-time person detection, with GPU acceleration when available (fallback to CPU) </a:t>
            </a:r>
            <a:endParaRPr sz="1600">
              <a:solidFill>
                <a:schemeClr val="dk1"/>
              </a:solidFill>
              <a:latin typeface="Poppins"/>
              <a:ea typeface="Poppins"/>
              <a:cs typeface="Poppins"/>
              <a:sym typeface="Poppins"/>
            </a:endParaRPr>
          </a:p>
          <a:p>
            <a:pPr indent="-330200" lvl="0" marL="457200" marR="0" rtl="0" algn="l">
              <a:lnSpc>
                <a:spcPct val="150000"/>
              </a:lnSpc>
              <a:spcBef>
                <a:spcPts val="0"/>
              </a:spcBef>
              <a:spcAft>
                <a:spcPts val="0"/>
              </a:spcAft>
              <a:buClr>
                <a:schemeClr val="dk1"/>
              </a:buClr>
              <a:buSzPts val="1600"/>
              <a:buFont typeface="Poppins"/>
              <a:buChar char="●"/>
            </a:pPr>
            <a:r>
              <a:rPr lang="en-US" sz="1600">
                <a:solidFill>
                  <a:schemeClr val="dk1"/>
                </a:solidFill>
                <a:latin typeface="Poppins"/>
                <a:ea typeface="Poppins"/>
                <a:cs typeface="Poppins"/>
                <a:sym typeface="Poppins"/>
              </a:rPr>
              <a:t>Processes each frame and filters detections to human class only </a:t>
            </a:r>
            <a:endParaRPr sz="1600">
              <a:solidFill>
                <a:schemeClr val="dk1"/>
              </a:solidFill>
              <a:latin typeface="Poppins"/>
              <a:ea typeface="Poppins"/>
              <a:cs typeface="Poppins"/>
              <a:sym typeface="Poppins"/>
            </a:endParaRPr>
          </a:p>
          <a:p>
            <a:pPr indent="-330200" lvl="0" marL="457200" marR="0" rtl="0" algn="l">
              <a:lnSpc>
                <a:spcPct val="150000"/>
              </a:lnSpc>
              <a:spcBef>
                <a:spcPts val="0"/>
              </a:spcBef>
              <a:spcAft>
                <a:spcPts val="0"/>
              </a:spcAft>
              <a:buClr>
                <a:schemeClr val="dk1"/>
              </a:buClr>
              <a:buSzPts val="1600"/>
              <a:buFont typeface="Poppins"/>
              <a:buChar char="●"/>
            </a:pPr>
            <a:r>
              <a:rPr lang="en-US" sz="1600">
                <a:solidFill>
                  <a:schemeClr val="dk1"/>
                </a:solidFill>
                <a:latin typeface="Poppins"/>
                <a:ea typeface="Poppins"/>
                <a:cs typeface="Poppins"/>
                <a:sym typeface="Poppins"/>
              </a:rPr>
              <a:t>Applies a configurable confidence threshold to remove low-quality detections </a:t>
            </a:r>
            <a:endParaRPr sz="1600">
              <a:solidFill>
                <a:schemeClr val="dk1"/>
              </a:solidFill>
              <a:latin typeface="Poppins"/>
              <a:ea typeface="Poppins"/>
              <a:cs typeface="Poppins"/>
              <a:sym typeface="Poppins"/>
            </a:endParaRPr>
          </a:p>
          <a:p>
            <a:pPr indent="-330200" lvl="0" marL="457200" marR="0" rtl="0" algn="l">
              <a:lnSpc>
                <a:spcPct val="150000"/>
              </a:lnSpc>
              <a:spcBef>
                <a:spcPts val="0"/>
              </a:spcBef>
              <a:spcAft>
                <a:spcPts val="0"/>
              </a:spcAft>
              <a:buClr>
                <a:schemeClr val="dk1"/>
              </a:buClr>
              <a:buSzPts val="1600"/>
              <a:buFont typeface="Poppins"/>
              <a:buChar char="●"/>
            </a:pPr>
            <a:r>
              <a:rPr lang="en-US" sz="1600">
                <a:solidFill>
                  <a:schemeClr val="dk1"/>
                </a:solidFill>
                <a:latin typeface="Poppins"/>
                <a:ea typeface="Poppins"/>
                <a:cs typeface="Poppins"/>
                <a:sym typeface="Poppins"/>
              </a:rPr>
              <a:t>Outputs precise bounding boxes (x1, y1, x2, y2 format) for each detected person </a:t>
            </a:r>
            <a:endParaRPr sz="1600">
              <a:solidFill>
                <a:schemeClr val="dk1"/>
              </a:solidFill>
              <a:latin typeface="Poppins"/>
              <a:ea typeface="Poppins"/>
              <a:cs typeface="Poppins"/>
              <a:sym typeface="Poppins"/>
            </a:endParaRPr>
          </a:p>
          <a:p>
            <a:pPr indent="-330200" lvl="0" marL="457200" marR="0" rtl="0" algn="l">
              <a:lnSpc>
                <a:spcPct val="150000"/>
              </a:lnSpc>
              <a:spcBef>
                <a:spcPts val="0"/>
              </a:spcBef>
              <a:spcAft>
                <a:spcPts val="0"/>
              </a:spcAft>
              <a:buClr>
                <a:schemeClr val="dk1"/>
              </a:buClr>
              <a:buSzPts val="1600"/>
              <a:buFont typeface="Poppins"/>
              <a:buChar char="●"/>
            </a:pPr>
            <a:r>
              <a:rPr lang="en-US" sz="1600">
                <a:solidFill>
                  <a:schemeClr val="dk1"/>
                </a:solidFill>
                <a:latin typeface="Poppins"/>
                <a:ea typeface="Poppins"/>
                <a:cs typeface="Poppins"/>
                <a:sym typeface="Poppins"/>
              </a:rPr>
              <a:t>Detection results are structured and passed directly to </a:t>
            </a:r>
            <a:endParaRPr sz="1600">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rPr lang="en-US" sz="1600">
                <a:solidFill>
                  <a:schemeClr val="dk1"/>
                </a:solidFill>
                <a:latin typeface="Poppins"/>
                <a:ea typeface="Poppins"/>
                <a:cs typeface="Poppins"/>
                <a:sym typeface="Poppins"/>
              </a:rPr>
              <a:t>DeepSORT for tracking </a:t>
            </a:r>
            <a:endParaRPr sz="1600">
              <a:solidFill>
                <a:schemeClr val="dk1"/>
              </a:solidFill>
              <a:latin typeface="Poppins"/>
              <a:ea typeface="Poppins"/>
              <a:cs typeface="Poppins"/>
              <a:sym typeface="Poppins"/>
            </a:endParaRPr>
          </a:p>
          <a:p>
            <a:pPr indent="-330200" lvl="0" marL="457200" marR="0" rtl="0" algn="l">
              <a:lnSpc>
                <a:spcPct val="150000"/>
              </a:lnSpc>
              <a:spcBef>
                <a:spcPts val="0"/>
              </a:spcBef>
              <a:spcAft>
                <a:spcPts val="0"/>
              </a:spcAft>
              <a:buClr>
                <a:schemeClr val="dk1"/>
              </a:buClr>
              <a:buSzPts val="1600"/>
              <a:buFont typeface="Poppins"/>
              <a:buChar char="●"/>
            </a:pPr>
            <a:r>
              <a:rPr lang="en-US" sz="1600">
                <a:solidFill>
                  <a:schemeClr val="dk1"/>
                </a:solidFill>
                <a:latin typeface="Poppins"/>
                <a:ea typeface="Poppins"/>
                <a:cs typeface="Poppins"/>
                <a:sym typeface="Poppins"/>
              </a:rPr>
              <a:t>Optimized for low-latency inference to support real-time </a:t>
            </a:r>
            <a:endParaRPr sz="1600">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rPr lang="en-US" sz="1600">
                <a:solidFill>
                  <a:schemeClr val="dk1"/>
                </a:solidFill>
                <a:latin typeface="Poppins"/>
                <a:ea typeface="Poppins"/>
                <a:cs typeface="Poppins"/>
                <a:sym typeface="Poppins"/>
              </a:rPr>
              <a:t>multi-camera processing </a:t>
            </a:r>
            <a:endParaRPr sz="16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t/>
            </a:r>
            <a:endParaRPr sz="1600">
              <a:solidFill>
                <a:schemeClr val="dk1"/>
              </a:solidFill>
              <a:latin typeface="Poppins"/>
              <a:ea typeface="Poppins"/>
              <a:cs typeface="Poppins"/>
              <a:sym typeface="Poppins"/>
            </a:endParaRPr>
          </a:p>
        </p:txBody>
      </p:sp>
      <p:pic>
        <p:nvPicPr>
          <p:cNvPr id="187" name="Google Shape;187;g3e6d78a5f59_0_30"/>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e6d78a5f59_0_25"/>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Person Tracking</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193" name="Google Shape;193;g3e6d78a5f59_0_25"/>
          <p:cNvSpPr/>
          <p:nvPr/>
        </p:nvSpPr>
        <p:spPr>
          <a:xfrm>
            <a:off x="382775" y="817625"/>
            <a:ext cx="8536200" cy="4391100"/>
          </a:xfrm>
          <a:prstGeom prst="rect">
            <a:avLst/>
          </a:prstGeom>
          <a:noFill/>
          <a:ln>
            <a:noFill/>
          </a:ln>
        </p:spPr>
        <p:txBody>
          <a:bodyPr anchorCtr="0" anchor="t" bIns="45700" lIns="91425" spcFirstLastPara="1" rIns="91425" wrap="square" tIns="45700">
            <a:noAutofit/>
          </a:bodyPr>
          <a:lstStyle/>
          <a:p>
            <a:pPr indent="-330200" lvl="0" marL="457200" marR="0" rtl="0" algn="l">
              <a:lnSpc>
                <a:spcPct val="150000"/>
              </a:lnSpc>
              <a:spcBef>
                <a:spcPts val="0"/>
              </a:spcBef>
              <a:spcAft>
                <a:spcPts val="0"/>
              </a:spcAft>
              <a:buClr>
                <a:schemeClr val="dk1"/>
              </a:buClr>
              <a:buSzPts val="1600"/>
              <a:buFont typeface="Poppins"/>
              <a:buChar char="●"/>
            </a:pPr>
            <a:r>
              <a:rPr lang="en-US" sz="1600">
                <a:solidFill>
                  <a:schemeClr val="dk1"/>
                </a:solidFill>
                <a:latin typeface="Poppins"/>
                <a:ea typeface="Poppins"/>
                <a:cs typeface="Poppins"/>
                <a:sym typeface="Poppins"/>
              </a:rPr>
              <a:t>Uses DeepSORT for real-time multi-object tracking with appearance + motion features </a:t>
            </a:r>
            <a:endParaRPr sz="1600">
              <a:solidFill>
                <a:schemeClr val="dk1"/>
              </a:solidFill>
              <a:latin typeface="Poppins"/>
              <a:ea typeface="Poppins"/>
              <a:cs typeface="Poppins"/>
              <a:sym typeface="Poppins"/>
            </a:endParaRPr>
          </a:p>
          <a:p>
            <a:pPr indent="-330200" lvl="0" marL="457200" marR="0" rtl="0" algn="l">
              <a:lnSpc>
                <a:spcPct val="150000"/>
              </a:lnSpc>
              <a:spcBef>
                <a:spcPts val="0"/>
              </a:spcBef>
              <a:spcAft>
                <a:spcPts val="0"/>
              </a:spcAft>
              <a:buClr>
                <a:schemeClr val="dk1"/>
              </a:buClr>
              <a:buSzPts val="1600"/>
              <a:buFont typeface="Poppins"/>
              <a:buChar char="●"/>
            </a:pPr>
            <a:r>
              <a:rPr lang="en-US" sz="1600">
                <a:solidFill>
                  <a:schemeClr val="dk1"/>
                </a:solidFill>
                <a:latin typeface="Poppins"/>
                <a:ea typeface="Poppins"/>
                <a:cs typeface="Poppins"/>
                <a:sym typeface="Poppins"/>
              </a:rPr>
              <a:t>Assigns unique track IDs to each detected person and maintains them across frames </a:t>
            </a:r>
            <a:endParaRPr sz="1600">
              <a:solidFill>
                <a:schemeClr val="dk1"/>
              </a:solidFill>
              <a:latin typeface="Poppins"/>
              <a:ea typeface="Poppins"/>
              <a:cs typeface="Poppins"/>
              <a:sym typeface="Poppins"/>
            </a:endParaRPr>
          </a:p>
          <a:p>
            <a:pPr indent="-330200" lvl="0" marL="457200" marR="0" rtl="0" algn="l">
              <a:lnSpc>
                <a:spcPct val="150000"/>
              </a:lnSpc>
              <a:spcBef>
                <a:spcPts val="0"/>
              </a:spcBef>
              <a:spcAft>
                <a:spcPts val="0"/>
              </a:spcAft>
              <a:buClr>
                <a:schemeClr val="dk1"/>
              </a:buClr>
              <a:buSzPts val="1600"/>
              <a:buFont typeface="Poppins"/>
              <a:buChar char="●"/>
            </a:pPr>
            <a:r>
              <a:rPr lang="en-US" sz="1600">
                <a:solidFill>
                  <a:schemeClr val="dk1"/>
                </a:solidFill>
                <a:latin typeface="Poppins"/>
                <a:ea typeface="Poppins"/>
                <a:cs typeface="Poppins"/>
                <a:sym typeface="Poppins"/>
              </a:rPr>
              <a:t>Leverages Kalman filtering + cosine similarity embeddings for robust identity matching </a:t>
            </a:r>
            <a:endParaRPr sz="1600">
              <a:solidFill>
                <a:schemeClr val="dk1"/>
              </a:solidFill>
              <a:latin typeface="Poppins"/>
              <a:ea typeface="Poppins"/>
              <a:cs typeface="Poppins"/>
              <a:sym typeface="Poppins"/>
            </a:endParaRPr>
          </a:p>
          <a:p>
            <a:pPr indent="-330200" lvl="0" marL="457200" marR="0" rtl="0" algn="l">
              <a:lnSpc>
                <a:spcPct val="150000"/>
              </a:lnSpc>
              <a:spcBef>
                <a:spcPts val="0"/>
              </a:spcBef>
              <a:spcAft>
                <a:spcPts val="0"/>
              </a:spcAft>
              <a:buClr>
                <a:schemeClr val="dk1"/>
              </a:buClr>
              <a:buSzPts val="1600"/>
              <a:buFont typeface="Poppins"/>
              <a:buChar char="●"/>
            </a:pPr>
            <a:r>
              <a:rPr lang="en-US" sz="1600">
                <a:solidFill>
                  <a:schemeClr val="dk1"/>
                </a:solidFill>
                <a:latin typeface="Poppins"/>
                <a:ea typeface="Poppins"/>
                <a:cs typeface="Poppins"/>
                <a:sym typeface="Poppins"/>
              </a:rPr>
              <a:t>Handles an individual simultaneously within each camera </a:t>
            </a:r>
            <a:endParaRPr sz="1600">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rPr lang="en-US" sz="1600">
                <a:solidFill>
                  <a:schemeClr val="dk1"/>
                </a:solidFill>
                <a:latin typeface="Poppins"/>
                <a:ea typeface="Poppins"/>
                <a:cs typeface="Poppins"/>
                <a:sym typeface="Poppins"/>
              </a:rPr>
              <a:t>stream </a:t>
            </a:r>
            <a:endParaRPr sz="1600">
              <a:solidFill>
                <a:schemeClr val="dk1"/>
              </a:solidFill>
              <a:latin typeface="Poppins"/>
              <a:ea typeface="Poppins"/>
              <a:cs typeface="Poppins"/>
              <a:sym typeface="Poppins"/>
            </a:endParaRPr>
          </a:p>
          <a:p>
            <a:pPr indent="-330200" lvl="0" marL="457200" marR="0" rtl="0" algn="l">
              <a:lnSpc>
                <a:spcPct val="150000"/>
              </a:lnSpc>
              <a:spcBef>
                <a:spcPts val="0"/>
              </a:spcBef>
              <a:spcAft>
                <a:spcPts val="0"/>
              </a:spcAft>
              <a:buClr>
                <a:schemeClr val="dk1"/>
              </a:buClr>
              <a:buSzPts val="1600"/>
              <a:buFont typeface="Poppins"/>
              <a:buChar char="●"/>
            </a:pPr>
            <a:r>
              <a:rPr lang="en-US" sz="1600">
                <a:solidFill>
                  <a:schemeClr val="dk1"/>
                </a:solidFill>
                <a:latin typeface="Poppins"/>
                <a:ea typeface="Poppins"/>
                <a:cs typeface="Poppins"/>
                <a:sym typeface="Poppins"/>
              </a:rPr>
              <a:t>Maintains tracking continuity during motion, partial </a:t>
            </a:r>
            <a:endParaRPr sz="1600">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rPr lang="en-US" sz="1600">
                <a:solidFill>
                  <a:schemeClr val="dk1"/>
                </a:solidFill>
                <a:latin typeface="Poppins"/>
                <a:ea typeface="Poppins"/>
                <a:cs typeface="Poppins"/>
                <a:sym typeface="Poppins"/>
              </a:rPr>
              <a:t>occlusion, and short-term loss </a:t>
            </a:r>
            <a:endParaRPr sz="1600">
              <a:solidFill>
                <a:schemeClr val="dk1"/>
              </a:solidFill>
              <a:latin typeface="Poppins"/>
              <a:ea typeface="Poppins"/>
              <a:cs typeface="Poppins"/>
              <a:sym typeface="Poppins"/>
            </a:endParaRPr>
          </a:p>
          <a:p>
            <a:pPr indent="-330200" lvl="0" marL="457200" marR="0" rtl="0" algn="l">
              <a:lnSpc>
                <a:spcPct val="150000"/>
              </a:lnSpc>
              <a:spcBef>
                <a:spcPts val="0"/>
              </a:spcBef>
              <a:spcAft>
                <a:spcPts val="0"/>
              </a:spcAft>
              <a:buClr>
                <a:schemeClr val="dk1"/>
              </a:buClr>
              <a:buSzPts val="1600"/>
              <a:buFont typeface="Poppins"/>
              <a:buChar char="●"/>
            </a:pPr>
            <a:r>
              <a:rPr lang="en-US" sz="1600">
                <a:solidFill>
                  <a:schemeClr val="dk1"/>
                </a:solidFill>
                <a:latin typeface="Poppins"/>
                <a:ea typeface="Poppins"/>
                <a:cs typeface="Poppins"/>
                <a:sym typeface="Poppins"/>
              </a:rPr>
              <a:t>Integrates seamlessly with detection outputs and  feeds </a:t>
            </a:r>
            <a:endParaRPr sz="1600">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rPr lang="en-US" sz="1600">
                <a:solidFill>
                  <a:schemeClr val="dk1"/>
                </a:solidFill>
                <a:latin typeface="Poppins"/>
                <a:ea typeface="Poppins"/>
                <a:cs typeface="Poppins"/>
                <a:sym typeface="Poppins"/>
              </a:rPr>
              <a:t>into global ReID and PTZ tracking logic </a:t>
            </a:r>
            <a:endParaRPr sz="16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t/>
            </a:r>
            <a:endParaRPr>
              <a:solidFill>
                <a:schemeClr val="dk1"/>
              </a:solidFill>
              <a:latin typeface="Poppins"/>
              <a:ea typeface="Poppins"/>
              <a:cs typeface="Poppins"/>
              <a:sym typeface="Poppins"/>
            </a:endParaRPr>
          </a:p>
        </p:txBody>
      </p:sp>
      <p:pic>
        <p:nvPicPr>
          <p:cNvPr id="194" name="Google Shape;194;g3e6d78a5f59_0_25"/>
          <p:cNvPicPr preferRelativeResize="0"/>
          <p:nvPr/>
        </p:nvPicPr>
        <p:blipFill>
          <a:blip r:embed="rId3">
            <a:alphaModFix/>
          </a:blip>
          <a:stretch>
            <a:fillRect/>
          </a:stretch>
        </p:blipFill>
        <p:spPr>
          <a:xfrm>
            <a:off x="7070100" y="3223025"/>
            <a:ext cx="1985700" cy="1985700"/>
          </a:xfrm>
          <a:prstGeom prst="roundRect">
            <a:avLst>
              <a:gd fmla="val 16667" name="adj"/>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e6d78a5f59_0_20"/>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Target Selection</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200" name="Google Shape;200;g3e6d78a5f59_0_20"/>
          <p:cNvSpPr/>
          <p:nvPr/>
        </p:nvSpPr>
        <p:spPr>
          <a:xfrm>
            <a:off x="426275" y="1037400"/>
            <a:ext cx="8536200" cy="4106100"/>
          </a:xfrm>
          <a:prstGeom prst="rect">
            <a:avLst/>
          </a:prstGeom>
          <a:noFill/>
          <a:ln>
            <a:noFill/>
          </a:ln>
        </p:spPr>
        <p:txBody>
          <a:bodyPr anchorCtr="0" anchor="t" bIns="45700" lIns="91425" spcFirstLastPara="1" rIns="91425" wrap="square" tIns="45700">
            <a:noAutofit/>
          </a:bodyPr>
          <a:lstStyle/>
          <a:p>
            <a:pPr indent="-349250" lvl="0" marL="457200" marR="0" rtl="0" algn="l">
              <a:lnSpc>
                <a:spcPct val="150000"/>
              </a:lnSpc>
              <a:spcBef>
                <a:spcPts val="0"/>
              </a:spcBef>
              <a:spcAft>
                <a:spcPts val="0"/>
              </a:spcAft>
              <a:buClr>
                <a:schemeClr val="dk1"/>
              </a:buClr>
              <a:buSzPts val="1900"/>
              <a:buFont typeface="Poppins"/>
              <a:buChar char="●"/>
            </a:pPr>
            <a:r>
              <a:rPr lang="en-US" sz="1900">
                <a:solidFill>
                  <a:schemeClr val="dk1"/>
                </a:solidFill>
                <a:latin typeface="Poppins"/>
                <a:ea typeface="Poppins"/>
                <a:cs typeface="Poppins"/>
                <a:sym typeface="Poppins"/>
              </a:rPr>
              <a:t>User can click on any detected person in the video feed.</a:t>
            </a:r>
            <a:endParaRPr sz="1900">
              <a:solidFill>
                <a:schemeClr val="dk1"/>
              </a:solidFill>
              <a:latin typeface="Poppins"/>
              <a:ea typeface="Poppins"/>
              <a:cs typeface="Poppins"/>
              <a:sym typeface="Poppins"/>
            </a:endParaRPr>
          </a:p>
          <a:p>
            <a:pPr indent="-349250" lvl="0" marL="457200" marR="0" rtl="0" algn="l">
              <a:lnSpc>
                <a:spcPct val="150000"/>
              </a:lnSpc>
              <a:spcBef>
                <a:spcPts val="0"/>
              </a:spcBef>
              <a:spcAft>
                <a:spcPts val="0"/>
              </a:spcAft>
              <a:buClr>
                <a:schemeClr val="dk1"/>
              </a:buClr>
              <a:buSzPts val="1900"/>
              <a:buFont typeface="Poppins"/>
              <a:buChar char="●"/>
            </a:pPr>
            <a:r>
              <a:rPr lang="en-US" sz="1900">
                <a:solidFill>
                  <a:schemeClr val="dk1"/>
                </a:solidFill>
                <a:latin typeface="Poppins"/>
                <a:ea typeface="Poppins"/>
                <a:cs typeface="Poppins"/>
                <a:sym typeface="Poppins"/>
              </a:rPr>
              <a:t>The selected individual becomes the active tracking target.</a:t>
            </a:r>
            <a:endParaRPr sz="1900">
              <a:solidFill>
                <a:schemeClr val="dk1"/>
              </a:solidFill>
              <a:latin typeface="Poppins"/>
              <a:ea typeface="Poppins"/>
              <a:cs typeface="Poppins"/>
              <a:sym typeface="Poppins"/>
            </a:endParaRPr>
          </a:p>
          <a:p>
            <a:pPr indent="-349250" lvl="0" marL="457200" marR="0" rtl="0" algn="l">
              <a:lnSpc>
                <a:spcPct val="150000"/>
              </a:lnSpc>
              <a:spcBef>
                <a:spcPts val="0"/>
              </a:spcBef>
              <a:spcAft>
                <a:spcPts val="0"/>
              </a:spcAft>
              <a:buClr>
                <a:schemeClr val="dk1"/>
              </a:buClr>
              <a:buSzPts val="1900"/>
              <a:buFont typeface="Poppins"/>
              <a:buChar char="●"/>
            </a:pPr>
            <a:r>
              <a:rPr lang="en-US" sz="1900">
                <a:solidFill>
                  <a:schemeClr val="dk1"/>
                </a:solidFill>
                <a:latin typeface="Poppins"/>
                <a:ea typeface="Poppins"/>
                <a:cs typeface="Poppins"/>
                <a:sym typeface="Poppins"/>
              </a:rPr>
              <a:t>The system highlights the selected person visually.</a:t>
            </a:r>
            <a:endParaRPr sz="1900">
              <a:solidFill>
                <a:schemeClr val="dk1"/>
              </a:solidFill>
              <a:latin typeface="Poppins"/>
              <a:ea typeface="Poppins"/>
              <a:cs typeface="Poppins"/>
              <a:sym typeface="Poppins"/>
            </a:endParaRPr>
          </a:p>
          <a:p>
            <a:pPr indent="-349250" lvl="0" marL="457200" marR="0" rtl="0" algn="l">
              <a:lnSpc>
                <a:spcPct val="150000"/>
              </a:lnSpc>
              <a:spcBef>
                <a:spcPts val="0"/>
              </a:spcBef>
              <a:spcAft>
                <a:spcPts val="0"/>
              </a:spcAft>
              <a:buClr>
                <a:schemeClr val="dk1"/>
              </a:buClr>
              <a:buSzPts val="1900"/>
              <a:buFont typeface="Poppins"/>
              <a:buChar char="●"/>
            </a:pPr>
            <a:r>
              <a:rPr lang="en-US" sz="1900">
                <a:solidFill>
                  <a:schemeClr val="dk1"/>
                </a:solidFill>
                <a:latin typeface="Poppins"/>
                <a:ea typeface="Poppins"/>
                <a:cs typeface="Poppins"/>
                <a:sym typeface="Poppins"/>
              </a:rPr>
              <a:t>Provides flexibility for operators to choose targets dynamically.</a:t>
            </a:r>
            <a:endParaRPr sz="19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t/>
            </a:r>
            <a:endParaRPr sz="1900">
              <a:solidFill>
                <a:schemeClr val="dk1"/>
              </a:solidFill>
              <a:latin typeface="Poppins"/>
              <a:ea typeface="Poppins"/>
              <a:cs typeface="Poppins"/>
              <a:sym typeface="Poppins"/>
            </a:endParaRPr>
          </a:p>
        </p:txBody>
      </p:sp>
      <p:pic>
        <p:nvPicPr>
          <p:cNvPr id="201" name="Google Shape;201;g3e6d78a5f59_0_20"/>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e6d78a5f59_0_15"/>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PTZ Camera Control</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207" name="Google Shape;207;g3e6d78a5f59_0_15"/>
          <p:cNvSpPr/>
          <p:nvPr/>
        </p:nvSpPr>
        <p:spPr>
          <a:xfrm>
            <a:off x="426275" y="1037400"/>
            <a:ext cx="8536200" cy="41061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Supports ONVIF-compatible PTZ cameras.</a:t>
            </a:r>
            <a:endParaRPr sz="1800">
              <a:solidFill>
                <a:schemeClr val="dk1"/>
              </a:solidFill>
              <a:latin typeface="Poppins"/>
              <a:ea typeface="Poppins"/>
              <a:cs typeface="Poppins"/>
              <a:sym typeface="Poppins"/>
            </a:endParaRPr>
          </a:p>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Automatically adjusts camera pan and tilt to follow the target.</a:t>
            </a:r>
            <a:endParaRPr sz="1800">
              <a:solidFill>
                <a:schemeClr val="dk1"/>
              </a:solidFill>
              <a:latin typeface="Poppins"/>
              <a:ea typeface="Poppins"/>
              <a:cs typeface="Poppins"/>
              <a:sym typeface="Poppins"/>
            </a:endParaRPr>
          </a:p>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Uses smoothing algorithms to reduce jittery movements.</a:t>
            </a:r>
            <a:endParaRPr sz="1800">
              <a:solidFill>
                <a:schemeClr val="dk1"/>
              </a:solidFill>
              <a:latin typeface="Poppins"/>
              <a:ea typeface="Poppins"/>
              <a:cs typeface="Poppins"/>
              <a:sym typeface="Poppins"/>
            </a:endParaRPr>
          </a:p>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Implements dead-zone logic to avoid unnecessary adjustments.</a:t>
            </a:r>
            <a:endParaRPr sz="1800">
              <a:solidFill>
                <a:schemeClr val="dk1"/>
              </a:solidFill>
              <a:latin typeface="Poppins"/>
              <a:ea typeface="Poppins"/>
              <a:cs typeface="Poppins"/>
              <a:sym typeface="Poppins"/>
            </a:endParaRPr>
          </a:p>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Ensures stable and smooth tracking experience.</a:t>
            </a:r>
            <a:endParaRPr sz="18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t/>
            </a:r>
            <a:endParaRPr>
              <a:solidFill>
                <a:schemeClr val="dk1"/>
              </a:solidFill>
              <a:latin typeface="Poppins"/>
              <a:ea typeface="Poppins"/>
              <a:cs typeface="Poppins"/>
              <a:sym typeface="Poppins"/>
            </a:endParaRPr>
          </a:p>
        </p:txBody>
      </p:sp>
      <p:pic>
        <p:nvPicPr>
          <p:cNvPr id="208" name="Google Shape;208;g3e6d78a5f59_0_15"/>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e6d78a5f59_0_10"/>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Real-Time Visualization</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214" name="Google Shape;214;g3e6d78a5f59_0_10"/>
          <p:cNvSpPr/>
          <p:nvPr/>
        </p:nvSpPr>
        <p:spPr>
          <a:xfrm>
            <a:off x="426275" y="1037400"/>
            <a:ext cx="8536200" cy="41061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Displays all camera feeds using OpenCV windows.</a:t>
            </a:r>
            <a:endParaRPr sz="1800">
              <a:solidFill>
                <a:schemeClr val="dk1"/>
              </a:solidFill>
              <a:latin typeface="Poppins"/>
              <a:ea typeface="Poppins"/>
              <a:cs typeface="Poppins"/>
              <a:sym typeface="Poppins"/>
            </a:endParaRPr>
          </a:p>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Shows bounding boxes and unique IDs for each person.</a:t>
            </a:r>
            <a:endParaRPr sz="1800">
              <a:solidFill>
                <a:schemeClr val="dk1"/>
              </a:solidFill>
              <a:latin typeface="Poppins"/>
              <a:ea typeface="Poppins"/>
              <a:cs typeface="Poppins"/>
              <a:sym typeface="Poppins"/>
            </a:endParaRPr>
          </a:p>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Highlights the selected target clearly.</a:t>
            </a:r>
            <a:endParaRPr sz="1800">
              <a:solidFill>
                <a:schemeClr val="dk1"/>
              </a:solidFill>
              <a:latin typeface="Poppins"/>
              <a:ea typeface="Poppins"/>
              <a:cs typeface="Poppins"/>
              <a:sym typeface="Poppins"/>
            </a:endParaRPr>
          </a:p>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Provides real-time feedback to the operator.</a:t>
            </a:r>
            <a:endParaRPr sz="1800">
              <a:solidFill>
                <a:schemeClr val="dk1"/>
              </a:solidFill>
              <a:latin typeface="Poppins"/>
              <a:ea typeface="Poppins"/>
              <a:cs typeface="Poppins"/>
              <a:sym typeface="Poppins"/>
            </a:endParaRPr>
          </a:p>
          <a:p>
            <a:pPr indent="-342900" lvl="0" marL="457200" marR="0" rtl="0" algn="l">
              <a:lnSpc>
                <a:spcPct val="15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Helps in monitoring and decision-making.</a:t>
            </a:r>
            <a:endParaRPr sz="18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t/>
            </a:r>
            <a:endParaRPr sz="1800">
              <a:solidFill>
                <a:schemeClr val="dk1"/>
              </a:solidFill>
              <a:latin typeface="Poppins"/>
              <a:ea typeface="Poppins"/>
              <a:cs typeface="Poppins"/>
              <a:sym typeface="Poppins"/>
            </a:endParaRPr>
          </a:p>
        </p:txBody>
      </p:sp>
      <p:pic>
        <p:nvPicPr>
          <p:cNvPr id="215" name="Google Shape;215;g3e6d78a5f59_0_10"/>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e6d78a5f59_0_5"/>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System Architecture</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221" name="Google Shape;221;g3e6d78a5f59_0_5"/>
          <p:cNvSpPr/>
          <p:nvPr/>
        </p:nvSpPr>
        <p:spPr>
          <a:xfrm>
            <a:off x="426275" y="1037400"/>
            <a:ext cx="8536200" cy="4106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b="0" sz="1400" u="none" strike="noStrike">
              <a:solidFill>
                <a:srgbClr val="000000"/>
              </a:solidFill>
              <a:latin typeface="Noto Sans Symbols"/>
              <a:ea typeface="Noto Sans Symbols"/>
              <a:cs typeface="Noto Sans Symbols"/>
              <a:sym typeface="Noto Sans Symbols"/>
            </a:endParaRPr>
          </a:p>
        </p:txBody>
      </p:sp>
      <p:grpSp>
        <p:nvGrpSpPr>
          <p:cNvPr id="222" name="Google Shape;222;g3e6d78a5f59_0_5"/>
          <p:cNvGrpSpPr/>
          <p:nvPr/>
        </p:nvGrpSpPr>
        <p:grpSpPr>
          <a:xfrm>
            <a:off x="3614208" y="906949"/>
            <a:ext cx="1642477" cy="4106080"/>
            <a:chOff x="3344586" y="3148"/>
            <a:chExt cx="2061600" cy="5153860"/>
          </a:xfrm>
        </p:grpSpPr>
        <p:sp>
          <p:nvSpPr>
            <p:cNvPr id="223" name="Google Shape;223;g3e6d78a5f59_0_5"/>
            <p:cNvSpPr/>
            <p:nvPr/>
          </p:nvSpPr>
          <p:spPr>
            <a:xfrm>
              <a:off x="3344586" y="3148"/>
              <a:ext cx="2061600" cy="515400"/>
            </a:xfrm>
            <a:prstGeom prst="roundRect">
              <a:avLst>
                <a:gd fmla="val 10000" name="adj"/>
              </a:avLst>
            </a:prstGeom>
            <a:gradFill>
              <a:gsLst>
                <a:gs pos="0">
                  <a:srgbClr val="9FC3FF"/>
                </a:gs>
                <a:gs pos="35000">
                  <a:srgbClr val="BDD5FF"/>
                </a:gs>
                <a:gs pos="100000">
                  <a:srgbClr val="E4EEFF"/>
                </a:gs>
              </a:gsLst>
              <a:lin ang="16200038" scaled="0"/>
            </a:gradFill>
            <a:ln>
              <a:noFill/>
            </a:ln>
            <a:effectLst>
              <a:outerShdw blurRad="31868" rotWithShape="0" dir="5400000" dist="15934">
                <a:srgbClr val="000000">
                  <a:alpha val="38040"/>
                </a:srgbClr>
              </a:outerShdw>
            </a:effectLst>
          </p:spPr>
          <p:txBody>
            <a:bodyPr anchorCtr="0" anchor="ctr" bIns="72850" lIns="72850" spcFirstLastPara="1" rIns="72850" wrap="square" tIns="72850">
              <a:noAutofit/>
            </a:bodyPr>
            <a:lstStyle/>
            <a:p>
              <a:pPr indent="0" lvl="0" marL="0" rtl="0" algn="l">
                <a:spcBef>
                  <a:spcPts val="0"/>
                </a:spcBef>
                <a:spcAft>
                  <a:spcPts val="0"/>
                </a:spcAft>
                <a:buNone/>
              </a:pPr>
              <a:r>
                <a:t/>
              </a:r>
              <a:endParaRPr/>
            </a:p>
          </p:txBody>
        </p:sp>
        <p:sp>
          <p:nvSpPr>
            <p:cNvPr id="224" name="Google Shape;224;g3e6d78a5f59_0_5"/>
            <p:cNvSpPr txBox="1"/>
            <p:nvPr/>
          </p:nvSpPr>
          <p:spPr>
            <a:xfrm>
              <a:off x="3359681" y="18243"/>
              <a:ext cx="2031300" cy="485100"/>
            </a:xfrm>
            <a:prstGeom prst="rect">
              <a:avLst/>
            </a:prstGeom>
            <a:noFill/>
            <a:ln>
              <a:noFill/>
            </a:ln>
          </p:spPr>
          <p:txBody>
            <a:bodyPr anchorCtr="0" anchor="ctr" bIns="54625" lIns="54625" spcFirstLastPara="1" rIns="54625" wrap="square" tIns="54625">
              <a:noAutofit/>
            </a:bodyPr>
            <a:lstStyle/>
            <a:p>
              <a:pPr indent="0" lvl="0" marL="0" marR="0" rtl="0" algn="ctr">
                <a:lnSpc>
                  <a:spcPct val="90000"/>
                </a:lnSpc>
                <a:spcBef>
                  <a:spcPts val="0"/>
                </a:spcBef>
                <a:spcAft>
                  <a:spcPts val="0"/>
                </a:spcAft>
                <a:buClr>
                  <a:srgbClr val="000000"/>
                </a:buClr>
                <a:buSzPts val="1434"/>
                <a:buFont typeface="Calibri"/>
                <a:buNone/>
              </a:pPr>
              <a:r>
                <a:rPr b="0" i="0" lang="en-US" sz="1434" u="none" cap="none" strike="noStrike">
                  <a:solidFill>
                    <a:srgbClr val="000000"/>
                  </a:solidFill>
                  <a:latin typeface="Calibri"/>
                  <a:ea typeface="Calibri"/>
                  <a:cs typeface="Calibri"/>
                  <a:sym typeface="Calibri"/>
                </a:rPr>
                <a:t>RTSP Streams </a:t>
              </a:r>
              <a:endParaRPr sz="1115"/>
            </a:p>
          </p:txBody>
        </p:sp>
        <p:sp>
          <p:nvSpPr>
            <p:cNvPr id="225" name="Google Shape;225;g3e6d78a5f59_0_5"/>
            <p:cNvSpPr/>
            <p:nvPr/>
          </p:nvSpPr>
          <p:spPr>
            <a:xfrm rot="5400000">
              <a:off x="4278766" y="531394"/>
              <a:ext cx="193200" cy="231900"/>
            </a:xfrm>
            <a:prstGeom prst="rightArrow">
              <a:avLst>
                <a:gd fmla="val 60000" name="adj1"/>
                <a:gd fmla="val 50000" name="adj2"/>
              </a:avLst>
            </a:prstGeom>
            <a:gradFill>
              <a:gsLst>
                <a:gs pos="0">
                  <a:srgbClr val="CCDEFB"/>
                </a:gs>
                <a:gs pos="35000">
                  <a:srgbClr val="DAE7FC"/>
                </a:gs>
                <a:gs pos="100000">
                  <a:srgbClr val="F0F7FE"/>
                </a:gs>
              </a:gsLst>
              <a:lin ang="16200038" scaled="0"/>
            </a:gradFill>
            <a:ln>
              <a:noFill/>
            </a:ln>
            <a:effectLst>
              <a:outerShdw blurRad="31868" rotWithShape="0" dir="5400000" dist="15934">
                <a:srgbClr val="000000">
                  <a:alpha val="38040"/>
                </a:srgbClr>
              </a:outerShdw>
            </a:effectLst>
          </p:spPr>
          <p:txBody>
            <a:bodyPr anchorCtr="0" anchor="ctr" bIns="72850" lIns="72850" spcFirstLastPara="1" rIns="72850" wrap="square" tIns="72850">
              <a:noAutofit/>
            </a:bodyPr>
            <a:lstStyle/>
            <a:p>
              <a:pPr indent="0" lvl="0" marL="0" rtl="0" algn="l">
                <a:spcBef>
                  <a:spcPts val="0"/>
                </a:spcBef>
                <a:spcAft>
                  <a:spcPts val="0"/>
                </a:spcAft>
                <a:buNone/>
              </a:pPr>
              <a:r>
                <a:t/>
              </a:r>
              <a:endParaRPr/>
            </a:p>
          </p:txBody>
        </p:sp>
        <p:sp>
          <p:nvSpPr>
            <p:cNvPr id="226" name="Google Shape;226;g3e6d78a5f59_0_5"/>
            <p:cNvSpPr txBox="1"/>
            <p:nvPr/>
          </p:nvSpPr>
          <p:spPr>
            <a:xfrm>
              <a:off x="4305778" y="550744"/>
              <a:ext cx="139200" cy="135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717"/>
                <a:buFont typeface="Calibri"/>
                <a:buNone/>
              </a:pPr>
              <a:r>
                <a:t/>
              </a:r>
              <a:endParaRPr b="0" i="0" sz="717" u="none" cap="none" strike="noStrike">
                <a:solidFill>
                  <a:srgbClr val="000000"/>
                </a:solidFill>
                <a:latin typeface="Calibri"/>
                <a:ea typeface="Calibri"/>
                <a:cs typeface="Calibri"/>
                <a:sym typeface="Calibri"/>
              </a:endParaRPr>
            </a:p>
          </p:txBody>
        </p:sp>
        <p:sp>
          <p:nvSpPr>
            <p:cNvPr id="227" name="Google Shape;227;g3e6d78a5f59_0_5"/>
            <p:cNvSpPr/>
            <p:nvPr/>
          </p:nvSpPr>
          <p:spPr>
            <a:xfrm>
              <a:off x="3344586" y="776225"/>
              <a:ext cx="2061600" cy="515400"/>
            </a:xfrm>
            <a:prstGeom prst="roundRect">
              <a:avLst>
                <a:gd fmla="val 10000" name="adj"/>
              </a:avLst>
            </a:prstGeom>
            <a:gradFill>
              <a:gsLst>
                <a:gs pos="0">
                  <a:srgbClr val="9FC3FF"/>
                </a:gs>
                <a:gs pos="35000">
                  <a:srgbClr val="BDD5FF"/>
                </a:gs>
                <a:gs pos="100000">
                  <a:srgbClr val="E4EEFF"/>
                </a:gs>
              </a:gsLst>
              <a:lin ang="16200038" scaled="0"/>
            </a:gradFill>
            <a:ln>
              <a:noFill/>
            </a:ln>
            <a:effectLst>
              <a:outerShdw blurRad="31868" rotWithShape="0" dir="5400000" dist="15934">
                <a:srgbClr val="000000">
                  <a:alpha val="38040"/>
                </a:srgbClr>
              </a:outerShdw>
            </a:effectLst>
          </p:spPr>
          <p:txBody>
            <a:bodyPr anchorCtr="0" anchor="ctr" bIns="72850" lIns="72850" spcFirstLastPara="1" rIns="72850" wrap="square" tIns="72850">
              <a:noAutofit/>
            </a:bodyPr>
            <a:lstStyle/>
            <a:p>
              <a:pPr indent="0" lvl="0" marL="0" rtl="0" algn="l">
                <a:spcBef>
                  <a:spcPts val="0"/>
                </a:spcBef>
                <a:spcAft>
                  <a:spcPts val="0"/>
                </a:spcAft>
                <a:buNone/>
              </a:pPr>
              <a:r>
                <a:t/>
              </a:r>
              <a:endParaRPr/>
            </a:p>
          </p:txBody>
        </p:sp>
        <p:sp>
          <p:nvSpPr>
            <p:cNvPr id="228" name="Google Shape;228;g3e6d78a5f59_0_5"/>
            <p:cNvSpPr txBox="1"/>
            <p:nvPr/>
          </p:nvSpPr>
          <p:spPr>
            <a:xfrm>
              <a:off x="3359681" y="791320"/>
              <a:ext cx="2031300" cy="485100"/>
            </a:xfrm>
            <a:prstGeom prst="rect">
              <a:avLst/>
            </a:prstGeom>
            <a:noFill/>
            <a:ln>
              <a:noFill/>
            </a:ln>
          </p:spPr>
          <p:txBody>
            <a:bodyPr anchorCtr="0" anchor="ctr" bIns="54625" lIns="54625" spcFirstLastPara="1" rIns="54625" wrap="square" tIns="54625">
              <a:noAutofit/>
            </a:bodyPr>
            <a:lstStyle/>
            <a:p>
              <a:pPr indent="0" lvl="0" marL="0" marR="0" rtl="0" algn="ctr">
                <a:lnSpc>
                  <a:spcPct val="90000"/>
                </a:lnSpc>
                <a:spcBef>
                  <a:spcPts val="0"/>
                </a:spcBef>
                <a:spcAft>
                  <a:spcPts val="0"/>
                </a:spcAft>
                <a:buClr>
                  <a:srgbClr val="000000"/>
                </a:buClr>
                <a:buSzPts val="1434"/>
                <a:buFont typeface="Calibri"/>
                <a:buNone/>
              </a:pPr>
              <a:r>
                <a:rPr b="0" i="0" lang="en-US" sz="1434" u="none" cap="none" strike="noStrike">
                  <a:solidFill>
                    <a:srgbClr val="000000"/>
                  </a:solidFill>
                  <a:latin typeface="Calibri"/>
                  <a:ea typeface="Calibri"/>
                  <a:cs typeface="Calibri"/>
                  <a:sym typeface="Calibri"/>
                </a:rPr>
                <a:t>Frame Reader (Threaded)</a:t>
              </a:r>
              <a:endParaRPr sz="1115"/>
            </a:p>
          </p:txBody>
        </p:sp>
        <p:sp>
          <p:nvSpPr>
            <p:cNvPr id="229" name="Google Shape;229;g3e6d78a5f59_0_5"/>
            <p:cNvSpPr/>
            <p:nvPr/>
          </p:nvSpPr>
          <p:spPr>
            <a:xfrm rot="5400000">
              <a:off x="4278766" y="1304471"/>
              <a:ext cx="193200" cy="231900"/>
            </a:xfrm>
            <a:prstGeom prst="rightArrow">
              <a:avLst>
                <a:gd fmla="val 60000" name="adj1"/>
                <a:gd fmla="val 50000" name="adj2"/>
              </a:avLst>
            </a:prstGeom>
            <a:gradFill>
              <a:gsLst>
                <a:gs pos="0">
                  <a:srgbClr val="CCDEFB"/>
                </a:gs>
                <a:gs pos="35000">
                  <a:srgbClr val="DAE7FC"/>
                </a:gs>
                <a:gs pos="100000">
                  <a:srgbClr val="F0F7FE"/>
                </a:gs>
              </a:gsLst>
              <a:lin ang="16200038" scaled="0"/>
            </a:gradFill>
            <a:ln>
              <a:noFill/>
            </a:ln>
            <a:effectLst>
              <a:outerShdw blurRad="31868" rotWithShape="0" dir="5400000" dist="15934">
                <a:srgbClr val="000000">
                  <a:alpha val="38040"/>
                </a:srgbClr>
              </a:outerShdw>
            </a:effectLst>
          </p:spPr>
          <p:txBody>
            <a:bodyPr anchorCtr="0" anchor="ctr" bIns="72850" lIns="72850" spcFirstLastPara="1" rIns="72850" wrap="square" tIns="72850">
              <a:noAutofit/>
            </a:bodyPr>
            <a:lstStyle/>
            <a:p>
              <a:pPr indent="0" lvl="0" marL="0" rtl="0" algn="l">
                <a:spcBef>
                  <a:spcPts val="0"/>
                </a:spcBef>
                <a:spcAft>
                  <a:spcPts val="0"/>
                </a:spcAft>
                <a:buNone/>
              </a:pPr>
              <a:r>
                <a:t/>
              </a:r>
              <a:endParaRPr/>
            </a:p>
          </p:txBody>
        </p:sp>
        <p:sp>
          <p:nvSpPr>
            <p:cNvPr id="230" name="Google Shape;230;g3e6d78a5f59_0_5"/>
            <p:cNvSpPr txBox="1"/>
            <p:nvPr/>
          </p:nvSpPr>
          <p:spPr>
            <a:xfrm>
              <a:off x="4305778" y="1323821"/>
              <a:ext cx="139200" cy="135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717"/>
                <a:buFont typeface="Calibri"/>
                <a:buNone/>
              </a:pPr>
              <a:r>
                <a:t/>
              </a:r>
              <a:endParaRPr b="0" i="0" sz="717" u="none" cap="none" strike="noStrike">
                <a:solidFill>
                  <a:srgbClr val="000000"/>
                </a:solidFill>
                <a:latin typeface="Calibri"/>
                <a:ea typeface="Calibri"/>
                <a:cs typeface="Calibri"/>
                <a:sym typeface="Calibri"/>
              </a:endParaRPr>
            </a:p>
          </p:txBody>
        </p:sp>
        <p:sp>
          <p:nvSpPr>
            <p:cNvPr id="231" name="Google Shape;231;g3e6d78a5f59_0_5"/>
            <p:cNvSpPr/>
            <p:nvPr/>
          </p:nvSpPr>
          <p:spPr>
            <a:xfrm>
              <a:off x="3344586" y="1549302"/>
              <a:ext cx="2061600" cy="515400"/>
            </a:xfrm>
            <a:prstGeom prst="roundRect">
              <a:avLst>
                <a:gd fmla="val 10000" name="adj"/>
              </a:avLst>
            </a:prstGeom>
            <a:gradFill>
              <a:gsLst>
                <a:gs pos="0">
                  <a:srgbClr val="9FC3FF"/>
                </a:gs>
                <a:gs pos="35000">
                  <a:srgbClr val="BDD5FF"/>
                </a:gs>
                <a:gs pos="100000">
                  <a:srgbClr val="E4EEFF"/>
                </a:gs>
              </a:gsLst>
              <a:lin ang="16200038" scaled="0"/>
            </a:gradFill>
            <a:ln>
              <a:noFill/>
            </a:ln>
            <a:effectLst>
              <a:outerShdw blurRad="31868" rotWithShape="0" dir="5400000" dist="15934">
                <a:srgbClr val="000000">
                  <a:alpha val="38040"/>
                </a:srgbClr>
              </a:outerShdw>
            </a:effectLst>
          </p:spPr>
          <p:txBody>
            <a:bodyPr anchorCtr="0" anchor="ctr" bIns="72850" lIns="72850" spcFirstLastPara="1" rIns="72850" wrap="square" tIns="72850">
              <a:noAutofit/>
            </a:bodyPr>
            <a:lstStyle/>
            <a:p>
              <a:pPr indent="0" lvl="0" marL="0" rtl="0" algn="l">
                <a:spcBef>
                  <a:spcPts val="0"/>
                </a:spcBef>
                <a:spcAft>
                  <a:spcPts val="0"/>
                </a:spcAft>
                <a:buNone/>
              </a:pPr>
              <a:r>
                <a:t/>
              </a:r>
              <a:endParaRPr/>
            </a:p>
          </p:txBody>
        </p:sp>
        <p:sp>
          <p:nvSpPr>
            <p:cNvPr id="232" name="Google Shape;232;g3e6d78a5f59_0_5"/>
            <p:cNvSpPr txBox="1"/>
            <p:nvPr/>
          </p:nvSpPr>
          <p:spPr>
            <a:xfrm>
              <a:off x="3359681" y="1564397"/>
              <a:ext cx="2031300" cy="485100"/>
            </a:xfrm>
            <a:prstGeom prst="rect">
              <a:avLst/>
            </a:prstGeom>
            <a:noFill/>
            <a:ln>
              <a:noFill/>
            </a:ln>
          </p:spPr>
          <p:txBody>
            <a:bodyPr anchorCtr="0" anchor="ctr" bIns="54625" lIns="54625" spcFirstLastPara="1" rIns="54625" wrap="square" tIns="54625">
              <a:noAutofit/>
            </a:bodyPr>
            <a:lstStyle/>
            <a:p>
              <a:pPr indent="0" lvl="0" marL="0" marR="0" rtl="0" algn="ctr">
                <a:lnSpc>
                  <a:spcPct val="90000"/>
                </a:lnSpc>
                <a:spcBef>
                  <a:spcPts val="0"/>
                </a:spcBef>
                <a:spcAft>
                  <a:spcPts val="0"/>
                </a:spcAft>
                <a:buClr>
                  <a:srgbClr val="000000"/>
                </a:buClr>
                <a:buSzPts val="1434"/>
                <a:buFont typeface="Calibri"/>
                <a:buNone/>
              </a:pPr>
              <a:r>
                <a:rPr b="0" i="0" lang="en-US" sz="1434" u="none" cap="none" strike="noStrike">
                  <a:solidFill>
                    <a:srgbClr val="000000"/>
                  </a:solidFill>
                  <a:latin typeface="Calibri"/>
                  <a:ea typeface="Calibri"/>
                  <a:cs typeface="Calibri"/>
                  <a:sym typeface="Calibri"/>
                </a:rPr>
                <a:t>YOLO Detection </a:t>
              </a:r>
              <a:endParaRPr sz="1115"/>
            </a:p>
          </p:txBody>
        </p:sp>
        <p:sp>
          <p:nvSpPr>
            <p:cNvPr id="233" name="Google Shape;233;g3e6d78a5f59_0_5"/>
            <p:cNvSpPr/>
            <p:nvPr/>
          </p:nvSpPr>
          <p:spPr>
            <a:xfrm rot="5400000">
              <a:off x="4278766" y="2077548"/>
              <a:ext cx="193200" cy="231900"/>
            </a:xfrm>
            <a:prstGeom prst="rightArrow">
              <a:avLst>
                <a:gd fmla="val 60000" name="adj1"/>
                <a:gd fmla="val 50000" name="adj2"/>
              </a:avLst>
            </a:prstGeom>
            <a:gradFill>
              <a:gsLst>
                <a:gs pos="0">
                  <a:srgbClr val="CCDEFB"/>
                </a:gs>
                <a:gs pos="35000">
                  <a:srgbClr val="DAE7FC"/>
                </a:gs>
                <a:gs pos="100000">
                  <a:srgbClr val="F0F7FE"/>
                </a:gs>
              </a:gsLst>
              <a:lin ang="16200038" scaled="0"/>
            </a:gradFill>
            <a:ln>
              <a:noFill/>
            </a:ln>
            <a:effectLst>
              <a:outerShdw blurRad="31868" rotWithShape="0" dir="5400000" dist="15934">
                <a:srgbClr val="000000">
                  <a:alpha val="38040"/>
                </a:srgbClr>
              </a:outerShdw>
            </a:effectLst>
          </p:spPr>
          <p:txBody>
            <a:bodyPr anchorCtr="0" anchor="ctr" bIns="72850" lIns="72850" spcFirstLastPara="1" rIns="72850" wrap="square" tIns="72850">
              <a:noAutofit/>
            </a:bodyPr>
            <a:lstStyle/>
            <a:p>
              <a:pPr indent="0" lvl="0" marL="0" rtl="0" algn="l">
                <a:spcBef>
                  <a:spcPts val="0"/>
                </a:spcBef>
                <a:spcAft>
                  <a:spcPts val="0"/>
                </a:spcAft>
                <a:buNone/>
              </a:pPr>
              <a:r>
                <a:t/>
              </a:r>
              <a:endParaRPr/>
            </a:p>
          </p:txBody>
        </p:sp>
        <p:sp>
          <p:nvSpPr>
            <p:cNvPr id="234" name="Google Shape;234;g3e6d78a5f59_0_5"/>
            <p:cNvSpPr txBox="1"/>
            <p:nvPr/>
          </p:nvSpPr>
          <p:spPr>
            <a:xfrm>
              <a:off x="4305778" y="2096898"/>
              <a:ext cx="139200" cy="135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717"/>
                <a:buFont typeface="Calibri"/>
                <a:buNone/>
              </a:pPr>
              <a:r>
                <a:t/>
              </a:r>
              <a:endParaRPr b="0" i="0" sz="717" u="none" cap="none" strike="noStrike">
                <a:solidFill>
                  <a:srgbClr val="000000"/>
                </a:solidFill>
                <a:latin typeface="Calibri"/>
                <a:ea typeface="Calibri"/>
                <a:cs typeface="Calibri"/>
                <a:sym typeface="Calibri"/>
              </a:endParaRPr>
            </a:p>
          </p:txBody>
        </p:sp>
        <p:sp>
          <p:nvSpPr>
            <p:cNvPr id="235" name="Google Shape;235;g3e6d78a5f59_0_5"/>
            <p:cNvSpPr/>
            <p:nvPr/>
          </p:nvSpPr>
          <p:spPr>
            <a:xfrm>
              <a:off x="3344586" y="2322378"/>
              <a:ext cx="2061600" cy="515400"/>
            </a:xfrm>
            <a:prstGeom prst="roundRect">
              <a:avLst>
                <a:gd fmla="val 10000" name="adj"/>
              </a:avLst>
            </a:prstGeom>
            <a:gradFill>
              <a:gsLst>
                <a:gs pos="0">
                  <a:srgbClr val="9FC3FF"/>
                </a:gs>
                <a:gs pos="35000">
                  <a:srgbClr val="BDD5FF"/>
                </a:gs>
                <a:gs pos="100000">
                  <a:srgbClr val="E4EEFF"/>
                </a:gs>
              </a:gsLst>
              <a:lin ang="16200038" scaled="0"/>
            </a:gradFill>
            <a:ln>
              <a:noFill/>
            </a:ln>
            <a:effectLst>
              <a:outerShdw blurRad="31868" rotWithShape="0" dir="5400000" dist="15934">
                <a:srgbClr val="000000">
                  <a:alpha val="38040"/>
                </a:srgbClr>
              </a:outerShdw>
            </a:effectLst>
          </p:spPr>
          <p:txBody>
            <a:bodyPr anchorCtr="0" anchor="ctr" bIns="72850" lIns="72850" spcFirstLastPara="1" rIns="72850" wrap="square" tIns="72850">
              <a:noAutofit/>
            </a:bodyPr>
            <a:lstStyle/>
            <a:p>
              <a:pPr indent="0" lvl="0" marL="0" rtl="0" algn="l">
                <a:spcBef>
                  <a:spcPts val="0"/>
                </a:spcBef>
                <a:spcAft>
                  <a:spcPts val="0"/>
                </a:spcAft>
                <a:buNone/>
              </a:pPr>
              <a:r>
                <a:t/>
              </a:r>
              <a:endParaRPr/>
            </a:p>
          </p:txBody>
        </p:sp>
        <p:sp>
          <p:nvSpPr>
            <p:cNvPr id="236" name="Google Shape;236;g3e6d78a5f59_0_5"/>
            <p:cNvSpPr txBox="1"/>
            <p:nvPr/>
          </p:nvSpPr>
          <p:spPr>
            <a:xfrm>
              <a:off x="3359681" y="2337473"/>
              <a:ext cx="2031300" cy="485100"/>
            </a:xfrm>
            <a:prstGeom prst="rect">
              <a:avLst/>
            </a:prstGeom>
            <a:noFill/>
            <a:ln>
              <a:noFill/>
            </a:ln>
          </p:spPr>
          <p:txBody>
            <a:bodyPr anchorCtr="0" anchor="ctr" bIns="54625" lIns="54625" spcFirstLastPara="1" rIns="54625" wrap="square" tIns="54625">
              <a:noAutofit/>
            </a:bodyPr>
            <a:lstStyle/>
            <a:p>
              <a:pPr indent="0" lvl="0" marL="0" marR="0" rtl="0" algn="ctr">
                <a:lnSpc>
                  <a:spcPct val="90000"/>
                </a:lnSpc>
                <a:spcBef>
                  <a:spcPts val="0"/>
                </a:spcBef>
                <a:spcAft>
                  <a:spcPts val="0"/>
                </a:spcAft>
                <a:buClr>
                  <a:srgbClr val="000000"/>
                </a:buClr>
                <a:buSzPts val="1434"/>
                <a:buFont typeface="Calibri"/>
                <a:buNone/>
              </a:pPr>
              <a:r>
                <a:rPr b="0" i="0" lang="en-US" sz="1434" u="none" cap="none" strike="noStrike">
                  <a:solidFill>
                    <a:srgbClr val="000000"/>
                  </a:solidFill>
                  <a:latin typeface="Calibri"/>
                  <a:ea typeface="Calibri"/>
                  <a:cs typeface="Calibri"/>
                  <a:sym typeface="Calibri"/>
                </a:rPr>
                <a:t>DeepSORT Tracking </a:t>
              </a:r>
              <a:endParaRPr b="0" i="0" sz="1434" u="none" cap="none" strike="noStrike">
                <a:solidFill>
                  <a:srgbClr val="000000"/>
                </a:solidFill>
                <a:latin typeface="Calibri"/>
                <a:ea typeface="Calibri"/>
                <a:cs typeface="Calibri"/>
                <a:sym typeface="Calibri"/>
              </a:endParaRPr>
            </a:p>
          </p:txBody>
        </p:sp>
        <p:sp>
          <p:nvSpPr>
            <p:cNvPr id="237" name="Google Shape;237;g3e6d78a5f59_0_5"/>
            <p:cNvSpPr/>
            <p:nvPr/>
          </p:nvSpPr>
          <p:spPr>
            <a:xfrm rot="5400000">
              <a:off x="4278766" y="2850624"/>
              <a:ext cx="193200" cy="231900"/>
            </a:xfrm>
            <a:prstGeom prst="rightArrow">
              <a:avLst>
                <a:gd fmla="val 60000" name="adj1"/>
                <a:gd fmla="val 50000" name="adj2"/>
              </a:avLst>
            </a:prstGeom>
            <a:gradFill>
              <a:gsLst>
                <a:gs pos="0">
                  <a:srgbClr val="CCDEFB"/>
                </a:gs>
                <a:gs pos="35000">
                  <a:srgbClr val="DAE7FC"/>
                </a:gs>
                <a:gs pos="100000">
                  <a:srgbClr val="F0F7FE"/>
                </a:gs>
              </a:gsLst>
              <a:lin ang="16200038" scaled="0"/>
            </a:gradFill>
            <a:ln>
              <a:noFill/>
            </a:ln>
            <a:effectLst>
              <a:outerShdw blurRad="31868" rotWithShape="0" dir="5400000" dist="15934">
                <a:srgbClr val="000000">
                  <a:alpha val="38040"/>
                </a:srgbClr>
              </a:outerShdw>
            </a:effectLst>
          </p:spPr>
          <p:txBody>
            <a:bodyPr anchorCtr="0" anchor="ctr" bIns="72850" lIns="72850" spcFirstLastPara="1" rIns="72850" wrap="square" tIns="72850">
              <a:noAutofit/>
            </a:bodyPr>
            <a:lstStyle/>
            <a:p>
              <a:pPr indent="0" lvl="0" marL="0" rtl="0" algn="l">
                <a:spcBef>
                  <a:spcPts val="0"/>
                </a:spcBef>
                <a:spcAft>
                  <a:spcPts val="0"/>
                </a:spcAft>
                <a:buNone/>
              </a:pPr>
              <a:r>
                <a:t/>
              </a:r>
              <a:endParaRPr/>
            </a:p>
          </p:txBody>
        </p:sp>
        <p:sp>
          <p:nvSpPr>
            <p:cNvPr id="238" name="Google Shape;238;g3e6d78a5f59_0_5"/>
            <p:cNvSpPr txBox="1"/>
            <p:nvPr/>
          </p:nvSpPr>
          <p:spPr>
            <a:xfrm>
              <a:off x="4305778" y="2869974"/>
              <a:ext cx="139200" cy="135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717"/>
                <a:buFont typeface="Calibri"/>
                <a:buNone/>
              </a:pPr>
              <a:r>
                <a:t/>
              </a:r>
              <a:endParaRPr b="0" i="0" sz="717" u="none" cap="none" strike="noStrike">
                <a:solidFill>
                  <a:srgbClr val="000000"/>
                </a:solidFill>
                <a:latin typeface="Calibri"/>
                <a:ea typeface="Calibri"/>
                <a:cs typeface="Calibri"/>
                <a:sym typeface="Calibri"/>
              </a:endParaRPr>
            </a:p>
          </p:txBody>
        </p:sp>
        <p:sp>
          <p:nvSpPr>
            <p:cNvPr id="239" name="Google Shape;239;g3e6d78a5f59_0_5"/>
            <p:cNvSpPr/>
            <p:nvPr/>
          </p:nvSpPr>
          <p:spPr>
            <a:xfrm>
              <a:off x="3344586" y="3095455"/>
              <a:ext cx="2061600" cy="515400"/>
            </a:xfrm>
            <a:prstGeom prst="roundRect">
              <a:avLst>
                <a:gd fmla="val 10000" name="adj"/>
              </a:avLst>
            </a:prstGeom>
            <a:gradFill>
              <a:gsLst>
                <a:gs pos="0">
                  <a:srgbClr val="9FC3FF"/>
                </a:gs>
                <a:gs pos="35000">
                  <a:srgbClr val="BDD5FF"/>
                </a:gs>
                <a:gs pos="100000">
                  <a:srgbClr val="E4EEFF"/>
                </a:gs>
              </a:gsLst>
              <a:lin ang="16200038" scaled="0"/>
            </a:gradFill>
            <a:ln>
              <a:noFill/>
            </a:ln>
            <a:effectLst>
              <a:outerShdw blurRad="31868" rotWithShape="0" dir="5400000" dist="15934">
                <a:srgbClr val="000000">
                  <a:alpha val="38040"/>
                </a:srgbClr>
              </a:outerShdw>
            </a:effectLst>
          </p:spPr>
          <p:txBody>
            <a:bodyPr anchorCtr="0" anchor="ctr" bIns="72850" lIns="72850" spcFirstLastPara="1" rIns="72850" wrap="square" tIns="72850">
              <a:noAutofit/>
            </a:bodyPr>
            <a:lstStyle/>
            <a:p>
              <a:pPr indent="0" lvl="0" marL="0" rtl="0" algn="l">
                <a:spcBef>
                  <a:spcPts val="0"/>
                </a:spcBef>
                <a:spcAft>
                  <a:spcPts val="0"/>
                </a:spcAft>
                <a:buNone/>
              </a:pPr>
              <a:r>
                <a:t/>
              </a:r>
              <a:endParaRPr/>
            </a:p>
          </p:txBody>
        </p:sp>
        <p:sp>
          <p:nvSpPr>
            <p:cNvPr id="240" name="Google Shape;240;g3e6d78a5f59_0_5"/>
            <p:cNvSpPr txBox="1"/>
            <p:nvPr/>
          </p:nvSpPr>
          <p:spPr>
            <a:xfrm>
              <a:off x="3359681" y="3110550"/>
              <a:ext cx="2031300" cy="485100"/>
            </a:xfrm>
            <a:prstGeom prst="rect">
              <a:avLst/>
            </a:prstGeom>
            <a:noFill/>
            <a:ln>
              <a:noFill/>
            </a:ln>
          </p:spPr>
          <p:txBody>
            <a:bodyPr anchorCtr="0" anchor="ctr" bIns="48550" lIns="48550" spcFirstLastPara="1" rIns="48550" wrap="square" tIns="48550">
              <a:noAutofit/>
            </a:bodyPr>
            <a:lstStyle/>
            <a:p>
              <a:pPr indent="0" lvl="0" marL="0" marR="0" rtl="0" algn="ctr">
                <a:lnSpc>
                  <a:spcPct val="90000"/>
                </a:lnSpc>
                <a:spcBef>
                  <a:spcPts val="0"/>
                </a:spcBef>
                <a:spcAft>
                  <a:spcPts val="0"/>
                </a:spcAft>
                <a:buClr>
                  <a:srgbClr val="000000"/>
                </a:buClr>
                <a:buSzPts val="1275"/>
                <a:buFont typeface="Calibri"/>
                <a:buNone/>
              </a:pPr>
              <a:r>
                <a:rPr b="0" i="0" lang="en-US" sz="1275" u="none" cap="none" strike="noStrike">
                  <a:solidFill>
                    <a:srgbClr val="000000"/>
                  </a:solidFill>
                  <a:latin typeface="Calibri"/>
                  <a:ea typeface="Calibri"/>
                  <a:cs typeface="Calibri"/>
                  <a:sym typeface="Calibri"/>
                </a:rPr>
                <a:t>Target Selection (User Input)</a:t>
              </a:r>
              <a:endParaRPr sz="1115"/>
            </a:p>
          </p:txBody>
        </p:sp>
        <p:sp>
          <p:nvSpPr>
            <p:cNvPr id="241" name="Google Shape;241;g3e6d78a5f59_0_5"/>
            <p:cNvSpPr/>
            <p:nvPr/>
          </p:nvSpPr>
          <p:spPr>
            <a:xfrm rot="5400000">
              <a:off x="4278766" y="3623700"/>
              <a:ext cx="193200" cy="231900"/>
            </a:xfrm>
            <a:prstGeom prst="rightArrow">
              <a:avLst>
                <a:gd fmla="val 60000" name="adj1"/>
                <a:gd fmla="val 50000" name="adj2"/>
              </a:avLst>
            </a:prstGeom>
            <a:gradFill>
              <a:gsLst>
                <a:gs pos="0">
                  <a:srgbClr val="CCDEFB"/>
                </a:gs>
                <a:gs pos="35000">
                  <a:srgbClr val="DAE7FC"/>
                </a:gs>
                <a:gs pos="100000">
                  <a:srgbClr val="F0F7FE"/>
                </a:gs>
              </a:gsLst>
              <a:lin ang="16200038" scaled="0"/>
            </a:gradFill>
            <a:ln>
              <a:noFill/>
            </a:ln>
            <a:effectLst>
              <a:outerShdw blurRad="31868" rotWithShape="0" dir="5400000" dist="15934">
                <a:srgbClr val="000000">
                  <a:alpha val="38040"/>
                </a:srgbClr>
              </a:outerShdw>
            </a:effectLst>
          </p:spPr>
          <p:txBody>
            <a:bodyPr anchorCtr="0" anchor="ctr" bIns="72850" lIns="72850" spcFirstLastPara="1" rIns="72850" wrap="square" tIns="72850">
              <a:noAutofit/>
            </a:bodyPr>
            <a:lstStyle/>
            <a:p>
              <a:pPr indent="0" lvl="0" marL="0" rtl="0" algn="l">
                <a:spcBef>
                  <a:spcPts val="0"/>
                </a:spcBef>
                <a:spcAft>
                  <a:spcPts val="0"/>
                </a:spcAft>
                <a:buNone/>
              </a:pPr>
              <a:r>
                <a:t/>
              </a:r>
              <a:endParaRPr/>
            </a:p>
          </p:txBody>
        </p:sp>
        <p:sp>
          <p:nvSpPr>
            <p:cNvPr id="242" name="Google Shape;242;g3e6d78a5f59_0_5"/>
            <p:cNvSpPr txBox="1"/>
            <p:nvPr/>
          </p:nvSpPr>
          <p:spPr>
            <a:xfrm>
              <a:off x="4305778" y="3643051"/>
              <a:ext cx="139200" cy="135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717"/>
                <a:buFont typeface="Calibri"/>
                <a:buNone/>
              </a:pPr>
              <a:r>
                <a:t/>
              </a:r>
              <a:endParaRPr b="0" i="0" sz="717" u="none" cap="none" strike="noStrike">
                <a:solidFill>
                  <a:srgbClr val="000000"/>
                </a:solidFill>
                <a:latin typeface="Calibri"/>
                <a:ea typeface="Calibri"/>
                <a:cs typeface="Calibri"/>
                <a:sym typeface="Calibri"/>
              </a:endParaRPr>
            </a:p>
          </p:txBody>
        </p:sp>
        <p:sp>
          <p:nvSpPr>
            <p:cNvPr id="243" name="Google Shape;243;g3e6d78a5f59_0_5"/>
            <p:cNvSpPr/>
            <p:nvPr/>
          </p:nvSpPr>
          <p:spPr>
            <a:xfrm>
              <a:off x="3344586" y="3868532"/>
              <a:ext cx="2061600" cy="515400"/>
            </a:xfrm>
            <a:prstGeom prst="roundRect">
              <a:avLst>
                <a:gd fmla="val 10000" name="adj"/>
              </a:avLst>
            </a:prstGeom>
            <a:gradFill>
              <a:gsLst>
                <a:gs pos="0">
                  <a:srgbClr val="9FC3FF"/>
                </a:gs>
                <a:gs pos="35000">
                  <a:srgbClr val="BDD5FF"/>
                </a:gs>
                <a:gs pos="100000">
                  <a:srgbClr val="E4EEFF"/>
                </a:gs>
              </a:gsLst>
              <a:lin ang="16200038" scaled="0"/>
            </a:gradFill>
            <a:ln>
              <a:noFill/>
            </a:ln>
            <a:effectLst>
              <a:outerShdw blurRad="31868" rotWithShape="0" dir="5400000" dist="15934">
                <a:srgbClr val="000000">
                  <a:alpha val="38040"/>
                </a:srgbClr>
              </a:outerShdw>
            </a:effectLst>
          </p:spPr>
          <p:txBody>
            <a:bodyPr anchorCtr="0" anchor="ctr" bIns="72850" lIns="72850" spcFirstLastPara="1" rIns="72850" wrap="square" tIns="72850">
              <a:noAutofit/>
            </a:bodyPr>
            <a:lstStyle/>
            <a:p>
              <a:pPr indent="0" lvl="0" marL="0" rtl="0" algn="l">
                <a:spcBef>
                  <a:spcPts val="0"/>
                </a:spcBef>
                <a:spcAft>
                  <a:spcPts val="0"/>
                </a:spcAft>
                <a:buNone/>
              </a:pPr>
              <a:r>
                <a:t/>
              </a:r>
              <a:endParaRPr/>
            </a:p>
          </p:txBody>
        </p:sp>
        <p:sp>
          <p:nvSpPr>
            <p:cNvPr id="244" name="Google Shape;244;g3e6d78a5f59_0_5"/>
            <p:cNvSpPr txBox="1"/>
            <p:nvPr/>
          </p:nvSpPr>
          <p:spPr>
            <a:xfrm>
              <a:off x="3359681" y="3883627"/>
              <a:ext cx="2031300" cy="485100"/>
            </a:xfrm>
            <a:prstGeom prst="rect">
              <a:avLst/>
            </a:prstGeom>
            <a:noFill/>
            <a:ln>
              <a:noFill/>
            </a:ln>
          </p:spPr>
          <p:txBody>
            <a:bodyPr anchorCtr="0" anchor="ctr" bIns="54625" lIns="54625" spcFirstLastPara="1" rIns="54625" wrap="square" tIns="54625">
              <a:noAutofit/>
            </a:bodyPr>
            <a:lstStyle/>
            <a:p>
              <a:pPr indent="0" lvl="0" marL="0" marR="0" rtl="0" algn="ctr">
                <a:lnSpc>
                  <a:spcPct val="90000"/>
                </a:lnSpc>
                <a:spcBef>
                  <a:spcPts val="0"/>
                </a:spcBef>
                <a:spcAft>
                  <a:spcPts val="0"/>
                </a:spcAft>
                <a:buClr>
                  <a:srgbClr val="000000"/>
                </a:buClr>
                <a:buSzPts val="1434"/>
                <a:buFont typeface="Calibri"/>
                <a:buNone/>
              </a:pPr>
              <a:r>
                <a:rPr b="0" i="0" lang="en-US" sz="1434" u="none" cap="none" strike="noStrike">
                  <a:solidFill>
                    <a:srgbClr val="000000"/>
                  </a:solidFill>
                  <a:latin typeface="Calibri"/>
                  <a:ea typeface="Calibri"/>
                  <a:cs typeface="Calibri"/>
                  <a:sym typeface="Calibri"/>
                </a:rPr>
                <a:t>PTZ Control Logic </a:t>
              </a:r>
              <a:endParaRPr b="0" i="0" sz="1434" u="none" cap="none" strike="noStrike">
                <a:solidFill>
                  <a:srgbClr val="000000"/>
                </a:solidFill>
                <a:latin typeface="Calibri"/>
                <a:ea typeface="Calibri"/>
                <a:cs typeface="Calibri"/>
                <a:sym typeface="Calibri"/>
              </a:endParaRPr>
            </a:p>
          </p:txBody>
        </p:sp>
        <p:sp>
          <p:nvSpPr>
            <p:cNvPr id="245" name="Google Shape;245;g3e6d78a5f59_0_5"/>
            <p:cNvSpPr/>
            <p:nvPr/>
          </p:nvSpPr>
          <p:spPr>
            <a:xfrm rot="5400000">
              <a:off x="4278766" y="4396778"/>
              <a:ext cx="193200" cy="231900"/>
            </a:xfrm>
            <a:prstGeom prst="rightArrow">
              <a:avLst>
                <a:gd fmla="val 60000" name="adj1"/>
                <a:gd fmla="val 50000" name="adj2"/>
              </a:avLst>
            </a:prstGeom>
            <a:gradFill>
              <a:gsLst>
                <a:gs pos="0">
                  <a:srgbClr val="CCDEFB"/>
                </a:gs>
                <a:gs pos="35000">
                  <a:srgbClr val="DAE7FC"/>
                </a:gs>
                <a:gs pos="100000">
                  <a:srgbClr val="F0F7FE"/>
                </a:gs>
              </a:gsLst>
              <a:lin ang="16200038" scaled="0"/>
            </a:gradFill>
            <a:ln>
              <a:noFill/>
            </a:ln>
            <a:effectLst>
              <a:outerShdw blurRad="31868" rotWithShape="0" dir="5400000" dist="15934">
                <a:srgbClr val="000000">
                  <a:alpha val="38040"/>
                </a:srgbClr>
              </a:outerShdw>
            </a:effectLst>
          </p:spPr>
          <p:txBody>
            <a:bodyPr anchorCtr="0" anchor="ctr" bIns="72850" lIns="72850" spcFirstLastPara="1" rIns="72850" wrap="square" tIns="72850">
              <a:noAutofit/>
            </a:bodyPr>
            <a:lstStyle/>
            <a:p>
              <a:pPr indent="0" lvl="0" marL="0" rtl="0" algn="l">
                <a:spcBef>
                  <a:spcPts val="0"/>
                </a:spcBef>
                <a:spcAft>
                  <a:spcPts val="0"/>
                </a:spcAft>
                <a:buNone/>
              </a:pPr>
              <a:r>
                <a:t/>
              </a:r>
              <a:endParaRPr/>
            </a:p>
          </p:txBody>
        </p:sp>
        <p:sp>
          <p:nvSpPr>
            <p:cNvPr id="246" name="Google Shape;246;g3e6d78a5f59_0_5"/>
            <p:cNvSpPr txBox="1"/>
            <p:nvPr/>
          </p:nvSpPr>
          <p:spPr>
            <a:xfrm>
              <a:off x="4305778" y="4416128"/>
              <a:ext cx="139200" cy="135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717"/>
                <a:buFont typeface="Calibri"/>
                <a:buNone/>
              </a:pPr>
              <a:r>
                <a:t/>
              </a:r>
              <a:endParaRPr b="0" i="0" sz="717" u="none" cap="none" strike="noStrike">
                <a:solidFill>
                  <a:srgbClr val="000000"/>
                </a:solidFill>
                <a:latin typeface="Calibri"/>
                <a:ea typeface="Calibri"/>
                <a:cs typeface="Calibri"/>
                <a:sym typeface="Calibri"/>
              </a:endParaRPr>
            </a:p>
          </p:txBody>
        </p:sp>
        <p:sp>
          <p:nvSpPr>
            <p:cNvPr id="247" name="Google Shape;247;g3e6d78a5f59_0_5"/>
            <p:cNvSpPr/>
            <p:nvPr/>
          </p:nvSpPr>
          <p:spPr>
            <a:xfrm>
              <a:off x="3344586" y="4641608"/>
              <a:ext cx="2061600" cy="515400"/>
            </a:xfrm>
            <a:prstGeom prst="roundRect">
              <a:avLst>
                <a:gd fmla="val 10000" name="adj"/>
              </a:avLst>
            </a:prstGeom>
            <a:gradFill>
              <a:gsLst>
                <a:gs pos="0">
                  <a:srgbClr val="9FC3FF"/>
                </a:gs>
                <a:gs pos="35000">
                  <a:srgbClr val="BDD5FF"/>
                </a:gs>
                <a:gs pos="100000">
                  <a:srgbClr val="E4EEFF"/>
                </a:gs>
              </a:gsLst>
              <a:lin ang="16200038" scaled="0"/>
            </a:gradFill>
            <a:ln>
              <a:noFill/>
            </a:ln>
            <a:effectLst>
              <a:outerShdw blurRad="31868" rotWithShape="0" dir="5400000" dist="15934">
                <a:srgbClr val="000000">
                  <a:alpha val="38040"/>
                </a:srgbClr>
              </a:outerShdw>
            </a:effectLst>
          </p:spPr>
          <p:txBody>
            <a:bodyPr anchorCtr="0" anchor="ctr" bIns="72850" lIns="72850" spcFirstLastPara="1" rIns="72850" wrap="square" tIns="72850">
              <a:noAutofit/>
            </a:bodyPr>
            <a:lstStyle/>
            <a:p>
              <a:pPr indent="0" lvl="0" marL="0" rtl="0" algn="l">
                <a:spcBef>
                  <a:spcPts val="0"/>
                </a:spcBef>
                <a:spcAft>
                  <a:spcPts val="0"/>
                </a:spcAft>
                <a:buNone/>
              </a:pPr>
              <a:r>
                <a:t/>
              </a:r>
              <a:endParaRPr/>
            </a:p>
          </p:txBody>
        </p:sp>
        <p:sp>
          <p:nvSpPr>
            <p:cNvPr id="248" name="Google Shape;248;g3e6d78a5f59_0_5"/>
            <p:cNvSpPr txBox="1"/>
            <p:nvPr/>
          </p:nvSpPr>
          <p:spPr>
            <a:xfrm>
              <a:off x="3359681" y="4656703"/>
              <a:ext cx="2031300" cy="485100"/>
            </a:xfrm>
            <a:prstGeom prst="rect">
              <a:avLst/>
            </a:prstGeom>
            <a:noFill/>
            <a:ln>
              <a:noFill/>
            </a:ln>
          </p:spPr>
          <p:txBody>
            <a:bodyPr anchorCtr="0" anchor="ctr" bIns="54625" lIns="54625" spcFirstLastPara="1" rIns="54625" wrap="square" tIns="54625">
              <a:noAutofit/>
            </a:bodyPr>
            <a:lstStyle/>
            <a:p>
              <a:pPr indent="0" lvl="0" marL="0" marR="0" rtl="0" algn="ctr">
                <a:lnSpc>
                  <a:spcPct val="90000"/>
                </a:lnSpc>
                <a:spcBef>
                  <a:spcPts val="0"/>
                </a:spcBef>
                <a:spcAft>
                  <a:spcPts val="0"/>
                </a:spcAft>
                <a:buClr>
                  <a:srgbClr val="000000"/>
                </a:buClr>
                <a:buSzPts val="1434"/>
                <a:buFont typeface="Calibri"/>
                <a:buNone/>
              </a:pPr>
              <a:r>
                <a:rPr b="0" i="0" lang="en-US" sz="1434" u="none" cap="none" strike="noStrike">
                  <a:solidFill>
                    <a:srgbClr val="000000"/>
                  </a:solidFill>
                  <a:latin typeface="Calibri"/>
                  <a:ea typeface="Calibri"/>
                  <a:cs typeface="Calibri"/>
                  <a:sym typeface="Calibri"/>
                </a:rPr>
                <a:t>Display Output (OpenCV)</a:t>
              </a:r>
              <a:endParaRPr sz="1115"/>
            </a:p>
          </p:txBody>
        </p:sp>
      </p:grpSp>
      <p:pic>
        <p:nvPicPr>
          <p:cNvPr id="249" name="Google Shape;249;g3e6d78a5f59_0_5"/>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e6d78a5f59_0_72"/>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Technology Stack</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255" name="Google Shape;255;g3e6d78a5f59_0_72"/>
          <p:cNvSpPr/>
          <p:nvPr/>
        </p:nvSpPr>
        <p:spPr>
          <a:xfrm>
            <a:off x="426275" y="1037400"/>
            <a:ext cx="8536200" cy="41061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Python – Core development language</a:t>
            </a:r>
            <a:endParaRPr sz="1800">
              <a:latin typeface="Noto Sans Symbols"/>
              <a:ea typeface="Noto Sans Symbols"/>
              <a:cs typeface="Noto Sans Symbols"/>
              <a:sym typeface="Noto Sans Symbols"/>
            </a:endParaRPr>
          </a:p>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OpenCV – Video processing and visualization</a:t>
            </a:r>
            <a:endParaRPr sz="1800">
              <a:latin typeface="Noto Sans Symbols"/>
              <a:ea typeface="Noto Sans Symbols"/>
              <a:cs typeface="Noto Sans Symbols"/>
              <a:sym typeface="Noto Sans Symbols"/>
            </a:endParaRPr>
          </a:p>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YOLOv11 – Person detection model</a:t>
            </a:r>
            <a:endParaRPr sz="1800">
              <a:latin typeface="Noto Sans Symbols"/>
              <a:ea typeface="Noto Sans Symbols"/>
              <a:cs typeface="Noto Sans Symbols"/>
              <a:sym typeface="Noto Sans Symbols"/>
            </a:endParaRPr>
          </a:p>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DeepSORT – </a:t>
            </a:r>
            <a:r>
              <a:rPr lang="en-US" sz="1800">
                <a:latin typeface="Noto Sans Symbols"/>
                <a:ea typeface="Noto Sans Symbols"/>
                <a:cs typeface="Noto Sans Symbols"/>
                <a:sym typeface="Noto Sans Symbols"/>
              </a:rPr>
              <a:t>Multi-object tracking</a:t>
            </a:r>
            <a:endParaRPr sz="1800">
              <a:latin typeface="Noto Sans Symbols"/>
              <a:ea typeface="Noto Sans Symbols"/>
              <a:cs typeface="Noto Sans Symbols"/>
              <a:sym typeface="Noto Sans Symbols"/>
            </a:endParaRPr>
          </a:p>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ONVIF – PTZ camera control protocol</a:t>
            </a:r>
            <a:endParaRPr sz="1800">
              <a:latin typeface="Noto Sans Symbols"/>
              <a:ea typeface="Noto Sans Symbols"/>
              <a:cs typeface="Noto Sans Symbols"/>
              <a:sym typeface="Noto Sans Symbols"/>
            </a:endParaRPr>
          </a:p>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NumPy – Numerical operations and optimizations</a:t>
            </a:r>
            <a:endParaRPr sz="18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8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b="0" sz="1400" u="none" strike="noStrike">
              <a:solidFill>
                <a:srgbClr val="000000"/>
              </a:solidFill>
              <a:latin typeface="Noto Sans Symbols"/>
              <a:ea typeface="Noto Sans Symbols"/>
              <a:cs typeface="Noto Sans Symbols"/>
              <a:sym typeface="Noto Sans Symbols"/>
            </a:endParaRPr>
          </a:p>
        </p:txBody>
      </p:sp>
      <p:pic>
        <p:nvPicPr>
          <p:cNvPr id="256" name="Google Shape;256;g3e6d78a5f59_0_72"/>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e6d78a5f59_0_119"/>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Workflow</a:t>
            </a:r>
            <a:endParaRPr b="1" sz="3000">
              <a:solidFill>
                <a:schemeClr val="dk2"/>
              </a:solidFill>
              <a:latin typeface="IBM Plex Mono"/>
              <a:ea typeface="IBM Plex Mono"/>
              <a:cs typeface="IBM Plex Mono"/>
              <a:sym typeface="IBM Plex Mono"/>
            </a:endParaRPr>
          </a:p>
        </p:txBody>
      </p:sp>
      <p:sp>
        <p:nvSpPr>
          <p:cNvPr id="262" name="Google Shape;262;g3e6d78a5f59_0_119"/>
          <p:cNvSpPr/>
          <p:nvPr/>
        </p:nvSpPr>
        <p:spPr>
          <a:xfrm>
            <a:off x="426275" y="1037400"/>
            <a:ext cx="8536200" cy="41061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50000"/>
              </a:lnSpc>
              <a:spcBef>
                <a:spcPts val="0"/>
              </a:spcBef>
              <a:spcAft>
                <a:spcPts val="0"/>
              </a:spcAft>
              <a:buSzPts val="1400"/>
              <a:buFont typeface="Noto Sans Symbols"/>
              <a:buChar char="●"/>
            </a:pPr>
            <a:r>
              <a:rPr lang="en-US">
                <a:latin typeface="Noto Sans Symbols"/>
                <a:ea typeface="Noto Sans Symbols"/>
                <a:cs typeface="Noto Sans Symbols"/>
                <a:sym typeface="Noto Sans Symbols"/>
              </a:rPr>
              <a:t>Frames are captured from multiple RTSP streams using threaded readers for low-latency processing </a:t>
            </a:r>
            <a:endParaRPr>
              <a:latin typeface="Noto Sans Symbols"/>
              <a:ea typeface="Noto Sans Symbols"/>
              <a:cs typeface="Noto Sans Symbols"/>
              <a:sym typeface="Noto Sans Symbols"/>
            </a:endParaRPr>
          </a:p>
          <a:p>
            <a:pPr indent="-317500" lvl="0" marL="457200" marR="0" rtl="0" algn="l">
              <a:lnSpc>
                <a:spcPct val="150000"/>
              </a:lnSpc>
              <a:spcBef>
                <a:spcPts val="0"/>
              </a:spcBef>
              <a:spcAft>
                <a:spcPts val="0"/>
              </a:spcAft>
              <a:buSzPts val="1400"/>
              <a:buFont typeface="Noto Sans Symbols"/>
              <a:buChar char="●"/>
            </a:pPr>
            <a:r>
              <a:rPr lang="en-US">
                <a:latin typeface="Noto Sans Symbols"/>
                <a:ea typeface="Noto Sans Symbols"/>
                <a:cs typeface="Noto Sans Symbols"/>
                <a:sym typeface="Noto Sans Symbols"/>
              </a:rPr>
              <a:t>YOLOv11 detects people in each frame with confidence-based filtering </a:t>
            </a:r>
            <a:endParaRPr>
              <a:latin typeface="Noto Sans Symbols"/>
              <a:ea typeface="Noto Sans Symbols"/>
              <a:cs typeface="Noto Sans Symbols"/>
              <a:sym typeface="Noto Sans Symbols"/>
            </a:endParaRPr>
          </a:p>
          <a:p>
            <a:pPr indent="-317500" lvl="0" marL="457200" marR="0" rtl="0" algn="l">
              <a:lnSpc>
                <a:spcPct val="150000"/>
              </a:lnSpc>
              <a:spcBef>
                <a:spcPts val="0"/>
              </a:spcBef>
              <a:spcAft>
                <a:spcPts val="0"/>
              </a:spcAft>
              <a:buSzPts val="1400"/>
              <a:buFont typeface="Noto Sans Symbols"/>
              <a:buChar char="●"/>
            </a:pPr>
            <a:r>
              <a:rPr lang="en-US">
                <a:latin typeface="Noto Sans Symbols"/>
                <a:ea typeface="Noto Sans Symbols"/>
                <a:cs typeface="Noto Sans Symbols"/>
                <a:sym typeface="Noto Sans Symbols"/>
              </a:rPr>
              <a:t>DeepSORT assigns track IDs and maintains identity across frames using motion + appearance features </a:t>
            </a:r>
            <a:endParaRPr>
              <a:latin typeface="Noto Sans Symbols"/>
              <a:ea typeface="Noto Sans Symbols"/>
              <a:cs typeface="Noto Sans Symbols"/>
              <a:sym typeface="Noto Sans Symbols"/>
            </a:endParaRPr>
          </a:p>
          <a:p>
            <a:pPr indent="-317500" lvl="0" marL="457200" marR="0" rtl="0" algn="l">
              <a:lnSpc>
                <a:spcPct val="150000"/>
              </a:lnSpc>
              <a:spcBef>
                <a:spcPts val="0"/>
              </a:spcBef>
              <a:spcAft>
                <a:spcPts val="0"/>
              </a:spcAft>
              <a:buSzPts val="1400"/>
              <a:buFont typeface="Noto Sans Symbols"/>
              <a:buChar char="●"/>
            </a:pPr>
            <a:r>
              <a:rPr lang="en-US">
                <a:latin typeface="Noto Sans Symbols"/>
                <a:ea typeface="Noto Sans Symbols"/>
                <a:cs typeface="Noto Sans Symbols"/>
                <a:sym typeface="Noto Sans Symbols"/>
              </a:rPr>
              <a:t>A global ReID module refines identity tracking across time and partially across cameras </a:t>
            </a:r>
            <a:endParaRPr>
              <a:latin typeface="Noto Sans Symbols"/>
              <a:ea typeface="Noto Sans Symbols"/>
              <a:cs typeface="Noto Sans Symbols"/>
              <a:sym typeface="Noto Sans Symbols"/>
            </a:endParaRPr>
          </a:p>
          <a:p>
            <a:pPr indent="-317500" lvl="0" marL="457200" marR="0" rtl="0" algn="l">
              <a:lnSpc>
                <a:spcPct val="150000"/>
              </a:lnSpc>
              <a:spcBef>
                <a:spcPts val="0"/>
              </a:spcBef>
              <a:spcAft>
                <a:spcPts val="0"/>
              </a:spcAft>
              <a:buSzPts val="1400"/>
              <a:buFont typeface="Noto Sans Symbols"/>
              <a:buChar char="●"/>
            </a:pPr>
            <a:r>
              <a:rPr lang="en-US">
                <a:latin typeface="Noto Sans Symbols"/>
                <a:ea typeface="Noto Sans Symbols"/>
                <a:cs typeface="Noto Sans Symbols"/>
                <a:sym typeface="Noto Sans Symbols"/>
              </a:rPr>
              <a:t>Real-time visualization displays bounding boxes, track IDs, and global IDs </a:t>
            </a:r>
            <a:endParaRPr>
              <a:latin typeface="Noto Sans Symbols"/>
              <a:ea typeface="Noto Sans Symbols"/>
              <a:cs typeface="Noto Sans Symbols"/>
              <a:sym typeface="Noto Sans Symbols"/>
            </a:endParaRPr>
          </a:p>
          <a:p>
            <a:pPr indent="-317500" lvl="0" marL="457200" marR="0" rtl="0" algn="l">
              <a:lnSpc>
                <a:spcPct val="150000"/>
              </a:lnSpc>
              <a:spcBef>
                <a:spcPts val="0"/>
              </a:spcBef>
              <a:spcAft>
                <a:spcPts val="0"/>
              </a:spcAft>
              <a:buSzPts val="1400"/>
              <a:buFont typeface="Noto Sans Symbols"/>
              <a:buChar char="●"/>
            </a:pPr>
            <a:r>
              <a:rPr lang="en-US">
                <a:latin typeface="Noto Sans Symbols"/>
                <a:ea typeface="Noto Sans Symbols"/>
                <a:cs typeface="Noto Sans Symbols"/>
                <a:sym typeface="Noto Sans Symbols"/>
              </a:rPr>
              <a:t>User selects a target via click → system locks onto the selected identity </a:t>
            </a:r>
            <a:endParaRPr>
              <a:latin typeface="Noto Sans Symbols"/>
              <a:ea typeface="Noto Sans Symbols"/>
              <a:cs typeface="Noto Sans Symbols"/>
              <a:sym typeface="Noto Sans Symbols"/>
            </a:endParaRPr>
          </a:p>
          <a:p>
            <a:pPr indent="-317500" lvl="0" marL="457200" marR="0" rtl="0" algn="l">
              <a:lnSpc>
                <a:spcPct val="150000"/>
              </a:lnSpc>
              <a:spcBef>
                <a:spcPts val="0"/>
              </a:spcBef>
              <a:spcAft>
                <a:spcPts val="0"/>
              </a:spcAft>
              <a:buSzPts val="1400"/>
              <a:buFont typeface="Noto Sans Symbols"/>
              <a:buChar char="●"/>
            </a:pPr>
            <a:r>
              <a:rPr lang="en-US">
                <a:latin typeface="Noto Sans Symbols"/>
                <a:ea typeface="Noto Sans Symbols"/>
                <a:cs typeface="Noto Sans Symbols"/>
                <a:sym typeface="Noto Sans Symbols"/>
              </a:rPr>
              <a:t>Tracking continuity is maintained using: </a:t>
            </a:r>
            <a:endParaRPr>
              <a:latin typeface="Noto Sans Symbols"/>
              <a:ea typeface="Noto Sans Symbols"/>
              <a:cs typeface="Noto Sans Symbols"/>
              <a:sym typeface="Noto Sans Symbols"/>
            </a:endParaRPr>
          </a:p>
          <a:p>
            <a:pPr indent="-317500" lvl="1" marL="914400" marR="0" rtl="0" algn="l">
              <a:lnSpc>
                <a:spcPct val="150000"/>
              </a:lnSpc>
              <a:spcBef>
                <a:spcPts val="0"/>
              </a:spcBef>
              <a:spcAft>
                <a:spcPts val="0"/>
              </a:spcAft>
              <a:buSzPts val="1400"/>
              <a:buFont typeface="Noto Sans Symbols"/>
              <a:buChar char="○"/>
            </a:pPr>
            <a:r>
              <a:rPr lang="en-US">
                <a:latin typeface="Noto Sans Symbols"/>
                <a:ea typeface="Noto Sans Symbols"/>
                <a:cs typeface="Noto Sans Symbols"/>
                <a:sym typeface="Noto Sans Symbols"/>
              </a:rPr>
              <a:t>Target locking </a:t>
            </a:r>
            <a:endParaRPr>
              <a:latin typeface="Noto Sans Symbols"/>
              <a:ea typeface="Noto Sans Symbols"/>
              <a:cs typeface="Noto Sans Symbols"/>
              <a:sym typeface="Noto Sans Symbols"/>
            </a:endParaRPr>
          </a:p>
          <a:p>
            <a:pPr indent="-317500" lvl="1" marL="914400" marR="0" rtl="0" algn="l">
              <a:lnSpc>
                <a:spcPct val="150000"/>
              </a:lnSpc>
              <a:spcBef>
                <a:spcPts val="0"/>
              </a:spcBef>
              <a:spcAft>
                <a:spcPts val="0"/>
              </a:spcAft>
              <a:buSzPts val="1400"/>
              <a:buFont typeface="Noto Sans Symbols"/>
              <a:buChar char="○"/>
            </a:pPr>
            <a:r>
              <a:rPr lang="en-US">
                <a:latin typeface="Noto Sans Symbols"/>
                <a:ea typeface="Noto Sans Symbols"/>
                <a:cs typeface="Noto Sans Symbols"/>
                <a:sym typeface="Noto Sans Symbols"/>
              </a:rPr>
              <a:t>Lost-track recovery </a:t>
            </a:r>
            <a:endParaRPr>
              <a:latin typeface="Noto Sans Symbols"/>
              <a:ea typeface="Noto Sans Symbols"/>
              <a:cs typeface="Noto Sans Symbols"/>
              <a:sym typeface="Noto Sans Symbols"/>
            </a:endParaRPr>
          </a:p>
          <a:p>
            <a:pPr indent="-317500" lvl="1" marL="914400" marR="0" rtl="0" algn="l">
              <a:lnSpc>
                <a:spcPct val="150000"/>
              </a:lnSpc>
              <a:spcBef>
                <a:spcPts val="0"/>
              </a:spcBef>
              <a:spcAft>
                <a:spcPts val="0"/>
              </a:spcAft>
              <a:buSzPts val="1400"/>
              <a:buFont typeface="Noto Sans Symbols"/>
              <a:buChar char="○"/>
            </a:pPr>
            <a:r>
              <a:rPr lang="en-US">
                <a:latin typeface="Noto Sans Symbols"/>
                <a:ea typeface="Noto Sans Symbols"/>
                <a:cs typeface="Noto Sans Symbols"/>
                <a:sym typeface="Noto Sans Symbols"/>
              </a:rPr>
              <a:t>Cross-camera handoff logic </a:t>
            </a:r>
            <a:endParaRPr b="0" u="none" strike="noStrike">
              <a:solidFill>
                <a:srgbClr val="000000"/>
              </a:solidFill>
              <a:latin typeface="Noto Sans Symbols"/>
              <a:ea typeface="Noto Sans Symbols"/>
              <a:cs typeface="Noto Sans Symbols"/>
              <a:sym typeface="Noto Sans Symbols"/>
            </a:endParaRPr>
          </a:p>
        </p:txBody>
      </p:sp>
      <p:pic>
        <p:nvPicPr>
          <p:cNvPr id="263" name="Google Shape;263;g3e6d78a5f59_0_119"/>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e6d78a5f59_0_114"/>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Business / Customer Outcomes</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269" name="Google Shape;269;g3e6d78a5f59_0_114"/>
          <p:cNvSpPr/>
          <p:nvPr/>
        </p:nvSpPr>
        <p:spPr>
          <a:xfrm>
            <a:off x="426275" y="1037400"/>
            <a:ext cx="8536200" cy="4106100"/>
          </a:xfrm>
          <a:prstGeom prst="rect">
            <a:avLst/>
          </a:prstGeom>
          <a:noFill/>
          <a:ln>
            <a:noFill/>
          </a:ln>
        </p:spPr>
        <p:txBody>
          <a:bodyPr anchorCtr="0" anchor="t" bIns="45700" lIns="91425" spcFirstLastPara="1" rIns="91425" wrap="square" tIns="45700">
            <a:noAutofit/>
          </a:bodyPr>
          <a:lstStyle/>
          <a:p>
            <a:pPr indent="-330200" lvl="0" marL="457200" marR="0" rtl="0" algn="l">
              <a:lnSpc>
                <a:spcPct val="150000"/>
              </a:lnSpc>
              <a:spcBef>
                <a:spcPts val="0"/>
              </a:spcBef>
              <a:spcAft>
                <a:spcPts val="0"/>
              </a:spcAft>
              <a:buSzPts val="1600"/>
              <a:buFont typeface="Noto Sans Symbols"/>
              <a:buChar char="●"/>
            </a:pPr>
            <a:r>
              <a:rPr lang="en-US" sz="1600">
                <a:latin typeface="Noto Sans Symbols"/>
                <a:ea typeface="Noto Sans Symbols"/>
                <a:cs typeface="Noto Sans Symbols"/>
                <a:sym typeface="Noto Sans Symbols"/>
              </a:rPr>
              <a:t>Automates multi-camera monitoring, significantly reducing manual effort. </a:t>
            </a:r>
            <a:endParaRPr sz="1600">
              <a:latin typeface="Noto Sans Symbols"/>
              <a:ea typeface="Noto Sans Symbols"/>
              <a:cs typeface="Noto Sans Symbols"/>
              <a:sym typeface="Noto Sans Symbols"/>
            </a:endParaRPr>
          </a:p>
          <a:p>
            <a:pPr indent="-330200" lvl="0" marL="457200" marR="0" rtl="0" algn="l">
              <a:lnSpc>
                <a:spcPct val="150000"/>
              </a:lnSpc>
              <a:spcBef>
                <a:spcPts val="0"/>
              </a:spcBef>
              <a:spcAft>
                <a:spcPts val="0"/>
              </a:spcAft>
              <a:buSzPts val="1600"/>
              <a:buFont typeface="Noto Sans Symbols"/>
              <a:buChar char="●"/>
            </a:pPr>
            <a:r>
              <a:rPr lang="en-US" sz="1600">
                <a:latin typeface="Noto Sans Symbols"/>
                <a:ea typeface="Noto Sans Symbols"/>
                <a:cs typeface="Noto Sans Symbols"/>
                <a:sym typeface="Noto Sans Symbols"/>
              </a:rPr>
              <a:t>Improves tracking accuracy using AI-based detection, tracking, and ReID.</a:t>
            </a:r>
            <a:endParaRPr sz="1600">
              <a:latin typeface="Noto Sans Symbols"/>
              <a:ea typeface="Noto Sans Symbols"/>
              <a:cs typeface="Noto Sans Symbols"/>
              <a:sym typeface="Noto Sans Symbols"/>
            </a:endParaRPr>
          </a:p>
          <a:p>
            <a:pPr indent="-330200" lvl="0" marL="457200" marR="0" rtl="0" algn="l">
              <a:lnSpc>
                <a:spcPct val="150000"/>
              </a:lnSpc>
              <a:spcBef>
                <a:spcPts val="0"/>
              </a:spcBef>
              <a:spcAft>
                <a:spcPts val="0"/>
              </a:spcAft>
              <a:buSzPts val="1600"/>
              <a:buFont typeface="Noto Sans Symbols"/>
              <a:buChar char="●"/>
            </a:pPr>
            <a:r>
              <a:rPr lang="en-US" sz="1600">
                <a:latin typeface="Noto Sans Symbols"/>
                <a:ea typeface="Noto Sans Symbols"/>
                <a:cs typeface="Noto Sans Symbols"/>
                <a:sym typeface="Noto Sans Symbols"/>
              </a:rPr>
              <a:t>Enables faster response to security events with active target tracking </a:t>
            </a:r>
            <a:endParaRPr sz="1600">
              <a:latin typeface="Noto Sans Symbols"/>
              <a:ea typeface="Noto Sans Symbols"/>
              <a:cs typeface="Noto Sans Symbols"/>
              <a:sym typeface="Noto Sans Symbols"/>
            </a:endParaRPr>
          </a:p>
          <a:p>
            <a:pPr indent="-330200" lvl="0" marL="457200" marR="0" rtl="0" algn="l">
              <a:lnSpc>
                <a:spcPct val="150000"/>
              </a:lnSpc>
              <a:spcBef>
                <a:spcPts val="0"/>
              </a:spcBef>
              <a:spcAft>
                <a:spcPts val="0"/>
              </a:spcAft>
              <a:buSzPts val="1600"/>
              <a:buFont typeface="Noto Sans Symbols"/>
              <a:buChar char="●"/>
            </a:pPr>
            <a:r>
              <a:rPr lang="en-US" sz="1600">
                <a:latin typeface="Noto Sans Symbols"/>
                <a:ea typeface="Noto Sans Symbols"/>
                <a:cs typeface="Noto Sans Symbols"/>
                <a:sym typeface="Noto Sans Symbols"/>
              </a:rPr>
              <a:t>Adds high-value PTZ automation for intelligent camera control </a:t>
            </a:r>
            <a:endParaRPr sz="1600">
              <a:latin typeface="Noto Sans Symbols"/>
              <a:ea typeface="Noto Sans Symbols"/>
              <a:cs typeface="Noto Sans Symbols"/>
              <a:sym typeface="Noto Sans Symbols"/>
            </a:endParaRPr>
          </a:p>
          <a:p>
            <a:pPr indent="-330200" lvl="0" marL="457200" marR="0" rtl="0" algn="l">
              <a:lnSpc>
                <a:spcPct val="150000"/>
              </a:lnSpc>
              <a:spcBef>
                <a:spcPts val="0"/>
              </a:spcBef>
              <a:spcAft>
                <a:spcPts val="0"/>
              </a:spcAft>
              <a:buSzPts val="1600"/>
              <a:buFont typeface="Noto Sans Symbols"/>
              <a:buChar char="●"/>
            </a:pPr>
            <a:r>
              <a:rPr lang="en-US" sz="1600">
                <a:latin typeface="Noto Sans Symbols"/>
                <a:ea typeface="Noto Sans Symbols"/>
                <a:cs typeface="Noto Sans Symbols"/>
                <a:sym typeface="Noto Sans Symbols"/>
              </a:rPr>
              <a:t>Enhances situational awareness with continuous tracking and visual feedback </a:t>
            </a:r>
            <a:endParaRPr sz="1600">
              <a:latin typeface="Noto Sans Symbols"/>
              <a:ea typeface="Noto Sans Symbols"/>
              <a:cs typeface="Noto Sans Symbols"/>
              <a:sym typeface="Noto Sans Symbols"/>
            </a:endParaRPr>
          </a:p>
          <a:p>
            <a:pPr indent="-330200" lvl="0" marL="457200" marR="0" rtl="0" algn="l">
              <a:lnSpc>
                <a:spcPct val="150000"/>
              </a:lnSpc>
              <a:spcBef>
                <a:spcPts val="0"/>
              </a:spcBef>
              <a:spcAft>
                <a:spcPts val="0"/>
              </a:spcAft>
              <a:buSzPts val="1600"/>
              <a:buFont typeface="Noto Sans Symbols"/>
              <a:buChar char="●"/>
            </a:pPr>
            <a:r>
              <a:rPr lang="en-US" sz="1600">
                <a:latin typeface="Noto Sans Symbols"/>
                <a:ea typeface="Noto Sans Symbols"/>
                <a:cs typeface="Noto Sans Symbols"/>
                <a:sym typeface="Noto Sans Symbols"/>
              </a:rPr>
              <a:t>Scales efficiently using parallel processing and multi-camera architecture </a:t>
            </a:r>
            <a:endParaRPr sz="1600">
              <a:latin typeface="Noto Sans Symbols"/>
              <a:ea typeface="Noto Sans Symbols"/>
              <a:cs typeface="Noto Sans Symbols"/>
              <a:sym typeface="Noto Sans Symbols"/>
            </a:endParaRPr>
          </a:p>
          <a:p>
            <a:pPr indent="-330200" lvl="0" marL="457200" marR="0" rtl="0" algn="l">
              <a:lnSpc>
                <a:spcPct val="150000"/>
              </a:lnSpc>
              <a:spcBef>
                <a:spcPts val="0"/>
              </a:spcBef>
              <a:spcAft>
                <a:spcPts val="0"/>
              </a:spcAft>
              <a:buSzPts val="1600"/>
              <a:buFont typeface="Noto Sans Symbols"/>
              <a:buChar char="●"/>
            </a:pPr>
            <a:r>
              <a:rPr lang="en-US" sz="1600">
                <a:latin typeface="Noto Sans Symbols"/>
                <a:ea typeface="Noto Sans Symbols"/>
                <a:cs typeface="Noto Sans Symbols"/>
                <a:sym typeface="Noto Sans Symbols"/>
              </a:rPr>
              <a:t>Applications:</a:t>
            </a:r>
            <a:endParaRPr sz="1600">
              <a:latin typeface="Noto Sans Symbols"/>
              <a:ea typeface="Noto Sans Symbols"/>
              <a:cs typeface="Noto Sans Symbols"/>
              <a:sym typeface="Noto Sans Symbols"/>
            </a:endParaRPr>
          </a:p>
          <a:p>
            <a:pPr indent="-330200" lvl="1" marL="914400" marR="0" rtl="0" algn="l">
              <a:lnSpc>
                <a:spcPct val="150000"/>
              </a:lnSpc>
              <a:spcBef>
                <a:spcPts val="0"/>
              </a:spcBef>
              <a:spcAft>
                <a:spcPts val="0"/>
              </a:spcAft>
              <a:buSzPts val="1600"/>
              <a:buFont typeface="Noto Sans Symbols"/>
              <a:buChar char="○"/>
            </a:pPr>
            <a:r>
              <a:rPr lang="en-US" sz="1600">
                <a:latin typeface="Noto Sans Symbols"/>
                <a:ea typeface="Noto Sans Symbols"/>
                <a:cs typeface="Noto Sans Symbols"/>
                <a:sym typeface="Noto Sans Symbols"/>
              </a:rPr>
              <a:t>Smart city surveillance </a:t>
            </a:r>
            <a:endParaRPr sz="1600">
              <a:latin typeface="Noto Sans Symbols"/>
              <a:ea typeface="Noto Sans Symbols"/>
              <a:cs typeface="Noto Sans Symbols"/>
              <a:sym typeface="Noto Sans Symbols"/>
            </a:endParaRPr>
          </a:p>
          <a:p>
            <a:pPr indent="-330200" lvl="1" marL="914400" marR="0" rtl="0" algn="l">
              <a:lnSpc>
                <a:spcPct val="150000"/>
              </a:lnSpc>
              <a:spcBef>
                <a:spcPts val="0"/>
              </a:spcBef>
              <a:spcAft>
                <a:spcPts val="0"/>
              </a:spcAft>
              <a:buSzPts val="1600"/>
              <a:buFont typeface="Noto Sans Symbols"/>
              <a:buChar char="○"/>
            </a:pPr>
            <a:r>
              <a:rPr lang="en-US" sz="1600">
                <a:latin typeface="Noto Sans Symbols"/>
                <a:ea typeface="Noto Sans Symbols"/>
                <a:cs typeface="Noto Sans Symbols"/>
                <a:sym typeface="Noto Sans Symbols"/>
              </a:rPr>
              <a:t>Airports and transport hubs </a:t>
            </a:r>
            <a:endParaRPr sz="1600">
              <a:latin typeface="Noto Sans Symbols"/>
              <a:ea typeface="Noto Sans Symbols"/>
              <a:cs typeface="Noto Sans Symbols"/>
              <a:sym typeface="Noto Sans Symbols"/>
            </a:endParaRPr>
          </a:p>
          <a:p>
            <a:pPr indent="-330200" lvl="1" marL="914400" marR="0" rtl="0" algn="l">
              <a:lnSpc>
                <a:spcPct val="150000"/>
              </a:lnSpc>
              <a:spcBef>
                <a:spcPts val="0"/>
              </a:spcBef>
              <a:spcAft>
                <a:spcPts val="0"/>
              </a:spcAft>
              <a:buSzPts val="1600"/>
              <a:buFont typeface="Noto Sans Symbols"/>
              <a:buChar char="○"/>
            </a:pPr>
            <a:r>
              <a:rPr lang="en-US" sz="1600">
                <a:latin typeface="Noto Sans Symbols"/>
                <a:ea typeface="Noto Sans Symbols"/>
                <a:cs typeface="Noto Sans Symbols"/>
                <a:sym typeface="Noto Sans Symbols"/>
              </a:rPr>
              <a:t>Retail analytics </a:t>
            </a:r>
            <a:endParaRPr sz="1600">
              <a:latin typeface="Noto Sans Symbols"/>
              <a:ea typeface="Noto Sans Symbols"/>
              <a:cs typeface="Noto Sans Symbols"/>
              <a:sym typeface="Noto Sans Symbols"/>
            </a:endParaRPr>
          </a:p>
          <a:p>
            <a:pPr indent="-330200" lvl="1" marL="914400" marR="0" rtl="0" algn="l">
              <a:lnSpc>
                <a:spcPct val="150000"/>
              </a:lnSpc>
              <a:spcBef>
                <a:spcPts val="0"/>
              </a:spcBef>
              <a:spcAft>
                <a:spcPts val="0"/>
              </a:spcAft>
              <a:buSzPts val="1600"/>
              <a:buFont typeface="Noto Sans Symbols"/>
              <a:buChar char="○"/>
            </a:pPr>
            <a:r>
              <a:rPr lang="en-US" sz="1600">
                <a:latin typeface="Noto Sans Symbols"/>
                <a:ea typeface="Noto Sans Symbols"/>
                <a:cs typeface="Noto Sans Symbols"/>
                <a:sym typeface="Noto Sans Symbols"/>
              </a:rPr>
              <a:t>Industrial safety monitoring</a:t>
            </a:r>
            <a:endParaRPr b="0" sz="1600" u="none" strike="noStrike">
              <a:solidFill>
                <a:srgbClr val="000000"/>
              </a:solidFill>
              <a:latin typeface="Noto Sans Symbols"/>
              <a:ea typeface="Noto Sans Symbols"/>
              <a:cs typeface="Noto Sans Symbols"/>
              <a:sym typeface="Noto Sans Symbols"/>
            </a:endParaRPr>
          </a:p>
        </p:txBody>
      </p:sp>
      <p:pic>
        <p:nvPicPr>
          <p:cNvPr id="270" name="Google Shape;270;g3e6d78a5f59_0_114"/>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e6d78a5f59_0_109"/>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Current Status</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276" name="Google Shape;276;g3e6d78a5f59_0_109"/>
          <p:cNvSpPr/>
          <p:nvPr/>
        </p:nvSpPr>
        <p:spPr>
          <a:xfrm>
            <a:off x="426275" y="1037400"/>
            <a:ext cx="8536200" cy="4106100"/>
          </a:xfrm>
          <a:prstGeom prst="rect">
            <a:avLst/>
          </a:prstGeom>
          <a:noFill/>
          <a:ln>
            <a:noFill/>
          </a:ln>
        </p:spPr>
        <p:txBody>
          <a:bodyPr anchorCtr="0" anchor="t" bIns="45700" lIns="91425" spcFirstLastPara="1" rIns="91425" wrap="square" tIns="45700">
            <a:noAutofit/>
          </a:bodyPr>
          <a:lstStyle/>
          <a:p>
            <a:pPr indent="-349250" lvl="0" marL="457200" marR="0" rtl="0" algn="l">
              <a:lnSpc>
                <a:spcPct val="150000"/>
              </a:lnSpc>
              <a:spcBef>
                <a:spcPts val="0"/>
              </a:spcBef>
              <a:spcAft>
                <a:spcPts val="0"/>
              </a:spcAft>
              <a:buSzPts val="1900"/>
              <a:buFont typeface="Noto Sans Symbols"/>
              <a:buChar char="●"/>
            </a:pPr>
            <a:r>
              <a:rPr lang="en-US" sz="1900">
                <a:latin typeface="Noto Sans Symbols"/>
                <a:ea typeface="Noto Sans Symbols"/>
                <a:cs typeface="Noto Sans Symbols"/>
                <a:sym typeface="Noto Sans Symbols"/>
              </a:rPr>
              <a:t>A working real-time prototype has been developed.</a:t>
            </a:r>
            <a:endParaRPr sz="1900">
              <a:latin typeface="Noto Sans Symbols"/>
              <a:ea typeface="Noto Sans Symbols"/>
              <a:cs typeface="Noto Sans Symbols"/>
              <a:sym typeface="Noto Sans Symbols"/>
            </a:endParaRPr>
          </a:p>
          <a:p>
            <a:pPr indent="-349250" lvl="0" marL="457200" marR="0" rtl="0" algn="l">
              <a:lnSpc>
                <a:spcPct val="150000"/>
              </a:lnSpc>
              <a:spcBef>
                <a:spcPts val="0"/>
              </a:spcBef>
              <a:spcAft>
                <a:spcPts val="0"/>
              </a:spcAft>
              <a:buSzPts val="1900"/>
              <a:buFont typeface="Noto Sans Symbols"/>
              <a:buChar char="●"/>
            </a:pPr>
            <a:r>
              <a:rPr lang="en-US" sz="1900">
                <a:latin typeface="Noto Sans Symbols"/>
                <a:ea typeface="Noto Sans Symbols"/>
                <a:cs typeface="Noto Sans Symbols"/>
                <a:sym typeface="Noto Sans Symbols"/>
              </a:rPr>
              <a:t>Supports multiple camera feeds simultaneously.</a:t>
            </a:r>
            <a:endParaRPr sz="1900">
              <a:latin typeface="Noto Sans Symbols"/>
              <a:ea typeface="Noto Sans Symbols"/>
              <a:cs typeface="Noto Sans Symbols"/>
              <a:sym typeface="Noto Sans Symbols"/>
            </a:endParaRPr>
          </a:p>
          <a:p>
            <a:pPr indent="-349250" lvl="0" marL="457200" marR="0" rtl="0" algn="l">
              <a:lnSpc>
                <a:spcPct val="150000"/>
              </a:lnSpc>
              <a:spcBef>
                <a:spcPts val="0"/>
              </a:spcBef>
              <a:spcAft>
                <a:spcPts val="0"/>
              </a:spcAft>
              <a:buSzPts val="1900"/>
              <a:buFont typeface="Noto Sans Symbols"/>
              <a:buChar char="●"/>
            </a:pPr>
            <a:r>
              <a:rPr lang="en-US" sz="1900">
                <a:latin typeface="Noto Sans Symbols"/>
                <a:ea typeface="Noto Sans Symbols"/>
                <a:cs typeface="Noto Sans Symbols"/>
                <a:sym typeface="Noto Sans Symbols"/>
              </a:rPr>
              <a:t>Implements detection, tracking, and PTZ control.</a:t>
            </a:r>
            <a:endParaRPr sz="1900">
              <a:latin typeface="Noto Sans Symbols"/>
              <a:ea typeface="Noto Sans Symbols"/>
              <a:cs typeface="Noto Sans Symbols"/>
              <a:sym typeface="Noto Sans Symbols"/>
            </a:endParaRPr>
          </a:p>
          <a:p>
            <a:pPr indent="-349250" lvl="0" marL="457200" marR="0" rtl="0" algn="l">
              <a:lnSpc>
                <a:spcPct val="150000"/>
              </a:lnSpc>
              <a:spcBef>
                <a:spcPts val="0"/>
              </a:spcBef>
              <a:spcAft>
                <a:spcPts val="0"/>
              </a:spcAft>
              <a:buSzPts val="1900"/>
              <a:buFont typeface="Noto Sans Symbols"/>
              <a:buChar char="●"/>
            </a:pPr>
            <a:r>
              <a:rPr lang="en-US" sz="1900">
                <a:latin typeface="Noto Sans Symbols"/>
                <a:ea typeface="Noto Sans Symbols"/>
                <a:cs typeface="Noto Sans Symbols"/>
                <a:sym typeface="Noto Sans Symbols"/>
              </a:rPr>
              <a:t>Interactive target selection is functional.</a:t>
            </a:r>
            <a:endParaRPr sz="1900">
              <a:latin typeface="Noto Sans Symbols"/>
              <a:ea typeface="Noto Sans Symbols"/>
              <a:cs typeface="Noto Sans Symbols"/>
              <a:sym typeface="Noto Sans Symbols"/>
            </a:endParaRPr>
          </a:p>
          <a:p>
            <a:pPr indent="-349250" lvl="0" marL="457200" marR="0" rtl="0" algn="l">
              <a:lnSpc>
                <a:spcPct val="150000"/>
              </a:lnSpc>
              <a:spcBef>
                <a:spcPts val="0"/>
              </a:spcBef>
              <a:spcAft>
                <a:spcPts val="0"/>
              </a:spcAft>
              <a:buSzPts val="1900"/>
              <a:buFont typeface="Noto Sans Symbols"/>
              <a:buChar char="●"/>
            </a:pPr>
            <a:r>
              <a:rPr lang="en-US" sz="1900">
                <a:latin typeface="Noto Sans Symbols"/>
                <a:ea typeface="Noto Sans Symbols"/>
                <a:cs typeface="Noto Sans Symbols"/>
                <a:sym typeface="Noto Sans Symbols"/>
              </a:rPr>
              <a:t>System demonstrates stable real-time performance.</a:t>
            </a:r>
            <a:endParaRPr sz="19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b="0" sz="1900" u="none" strike="noStrike">
              <a:solidFill>
                <a:srgbClr val="000000"/>
              </a:solidFill>
              <a:latin typeface="Noto Sans Symbols"/>
              <a:ea typeface="Noto Sans Symbols"/>
              <a:cs typeface="Noto Sans Symbols"/>
              <a:sym typeface="Noto Sans Symbols"/>
            </a:endParaRPr>
          </a:p>
        </p:txBody>
      </p:sp>
      <p:pic>
        <p:nvPicPr>
          <p:cNvPr id="277" name="Google Shape;277;g3e6d78a5f59_0_109"/>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e6d78a5f59_0_104"/>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Future Enhancements</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283" name="Google Shape;283;g3e6d78a5f59_0_104"/>
          <p:cNvSpPr/>
          <p:nvPr/>
        </p:nvSpPr>
        <p:spPr>
          <a:xfrm>
            <a:off x="426275" y="1037400"/>
            <a:ext cx="8536200" cy="41061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Implement cross-camera re-identification using models like OSNet or FastReID.</a:t>
            </a:r>
            <a:endParaRPr sz="1800">
              <a:latin typeface="Noto Sans Symbols"/>
              <a:ea typeface="Noto Sans Symbols"/>
              <a:cs typeface="Noto Sans Symbols"/>
              <a:sym typeface="Noto Sans Symbols"/>
            </a:endParaRPr>
          </a:p>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Enable identity handoff between cameras.</a:t>
            </a:r>
            <a:endParaRPr sz="1800">
              <a:latin typeface="Noto Sans Symbols"/>
              <a:ea typeface="Noto Sans Symbols"/>
              <a:cs typeface="Noto Sans Symbols"/>
              <a:sym typeface="Noto Sans Symbols"/>
            </a:endParaRPr>
          </a:p>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Develop a web-based dashboard for monitoring.</a:t>
            </a:r>
            <a:endParaRPr sz="1800">
              <a:latin typeface="Noto Sans Symbols"/>
              <a:ea typeface="Noto Sans Symbols"/>
              <a:cs typeface="Noto Sans Symbols"/>
              <a:sym typeface="Noto Sans Symbols"/>
            </a:endParaRPr>
          </a:p>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Add event logging and analytics capabilities.</a:t>
            </a:r>
            <a:endParaRPr sz="1800">
              <a:latin typeface="Noto Sans Symbols"/>
              <a:ea typeface="Noto Sans Symbols"/>
              <a:cs typeface="Noto Sans Symbols"/>
              <a:sym typeface="Noto Sans Symbols"/>
            </a:endParaRPr>
          </a:p>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Support multiple targets with multiple PTZ cameras.</a:t>
            </a:r>
            <a:endParaRPr sz="1800">
              <a:latin typeface="Noto Sans Symbols"/>
              <a:ea typeface="Noto Sans Symbols"/>
              <a:cs typeface="Noto Sans Symbols"/>
              <a:sym typeface="Noto Sans Symbols"/>
            </a:endParaRPr>
          </a:p>
          <a:p>
            <a:pPr indent="0" lvl="0" marL="457200" marR="0" rtl="0" algn="l">
              <a:lnSpc>
                <a:spcPct val="15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pic>
        <p:nvPicPr>
          <p:cNvPr id="284" name="Google Shape;284;g3e6d78a5f59_0_104"/>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e6d78a5f59_0_126"/>
          <p:cNvSpPr/>
          <p:nvPr/>
        </p:nvSpPr>
        <p:spPr>
          <a:xfrm>
            <a:off x="476475" y="150051"/>
            <a:ext cx="8191200" cy="75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Achievements</a:t>
            </a:r>
            <a:endParaRPr b="1" sz="3000">
              <a:solidFill>
                <a:schemeClr val="dk2"/>
              </a:solidFill>
              <a:latin typeface="IBM Plex Mono"/>
              <a:ea typeface="IBM Plex Mono"/>
              <a:cs typeface="IBM Plex Mono"/>
              <a:sym typeface="IBM Plex Mono"/>
            </a:endParaRPr>
          </a:p>
          <a:p>
            <a:pPr indent="0" lvl="0" marL="0" marR="0" rtl="0" algn="ctr">
              <a:lnSpc>
                <a:spcPct val="100000"/>
              </a:lnSpc>
              <a:spcBef>
                <a:spcPts val="0"/>
              </a:spcBef>
              <a:spcAft>
                <a:spcPts val="0"/>
              </a:spcAft>
              <a:buNone/>
            </a:pPr>
            <a:r>
              <a:t/>
            </a:r>
            <a:endParaRPr b="1" sz="3000">
              <a:solidFill>
                <a:schemeClr val="dk2"/>
              </a:solidFill>
              <a:latin typeface="IBM Plex Mono"/>
              <a:ea typeface="IBM Plex Mono"/>
              <a:cs typeface="IBM Plex Mono"/>
              <a:sym typeface="IBM Plex Mono"/>
            </a:endParaRPr>
          </a:p>
        </p:txBody>
      </p:sp>
      <p:sp>
        <p:nvSpPr>
          <p:cNvPr id="290" name="Google Shape;290;g3e6d78a5f59_0_126"/>
          <p:cNvSpPr/>
          <p:nvPr/>
        </p:nvSpPr>
        <p:spPr>
          <a:xfrm>
            <a:off x="426275" y="1037400"/>
            <a:ext cx="8536200" cy="41061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Developed a real-time AI-powered tracking system.</a:t>
            </a:r>
            <a:endParaRPr sz="1800">
              <a:latin typeface="Noto Sans Symbols"/>
              <a:ea typeface="Noto Sans Symbols"/>
              <a:cs typeface="Noto Sans Symbols"/>
              <a:sym typeface="Noto Sans Symbols"/>
            </a:endParaRPr>
          </a:p>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Successfully handled multiple camera feeds.</a:t>
            </a:r>
            <a:endParaRPr sz="1800">
              <a:latin typeface="Noto Sans Symbols"/>
              <a:ea typeface="Noto Sans Symbols"/>
              <a:cs typeface="Noto Sans Symbols"/>
              <a:sym typeface="Noto Sans Symbols"/>
            </a:endParaRPr>
          </a:p>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Integrated PTZ camera automation.</a:t>
            </a:r>
            <a:endParaRPr sz="1800">
              <a:latin typeface="Noto Sans Symbols"/>
              <a:ea typeface="Noto Sans Symbols"/>
              <a:cs typeface="Noto Sans Symbols"/>
              <a:sym typeface="Noto Sans Symbols"/>
            </a:endParaRPr>
          </a:p>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Built an interactive human-in-the-loop system.</a:t>
            </a:r>
            <a:endParaRPr sz="1800">
              <a:latin typeface="Noto Sans Symbols"/>
              <a:ea typeface="Noto Sans Symbols"/>
              <a:cs typeface="Noto Sans Symbols"/>
              <a:sym typeface="Noto Sans Symbols"/>
            </a:endParaRPr>
          </a:p>
          <a:p>
            <a:pPr indent="-342900" lvl="0" marL="457200" marR="0" rtl="0" algn="l">
              <a:lnSpc>
                <a:spcPct val="150000"/>
              </a:lnSpc>
              <a:spcBef>
                <a:spcPts val="0"/>
              </a:spcBef>
              <a:spcAft>
                <a:spcPts val="0"/>
              </a:spcAft>
              <a:buSzPts val="1800"/>
              <a:buFont typeface="Noto Sans Symbols"/>
              <a:buChar char="●"/>
            </a:pPr>
            <a:r>
              <a:rPr lang="en-US" sz="1800">
                <a:latin typeface="Noto Sans Symbols"/>
                <a:ea typeface="Noto Sans Symbols"/>
                <a:cs typeface="Noto Sans Symbols"/>
                <a:sym typeface="Noto Sans Symbols"/>
              </a:rPr>
              <a:t>This is beyond a demo – it is a functional intelligent system.</a:t>
            </a:r>
            <a:endParaRPr sz="1800">
              <a:latin typeface="Noto Sans Symbols"/>
              <a:ea typeface="Noto Sans Symbols"/>
              <a:cs typeface="Noto Sans Symbols"/>
              <a:sym typeface="Noto Sans Symbols"/>
            </a:endParaRPr>
          </a:p>
          <a:p>
            <a:pPr indent="0" lvl="0" marL="914400" marR="0" rtl="0" algn="l">
              <a:lnSpc>
                <a:spcPct val="150000"/>
              </a:lnSpc>
              <a:spcBef>
                <a:spcPts val="0"/>
              </a:spcBef>
              <a:spcAft>
                <a:spcPts val="0"/>
              </a:spcAft>
              <a:buNone/>
            </a:pPr>
            <a:r>
              <a:t/>
            </a:r>
            <a:endParaRPr sz="1800">
              <a:latin typeface="Noto Sans Symbols"/>
              <a:ea typeface="Noto Sans Symbols"/>
              <a:cs typeface="Noto Sans Symbols"/>
              <a:sym typeface="Noto Sans Symbols"/>
            </a:endParaRPr>
          </a:p>
        </p:txBody>
      </p:sp>
      <p:pic>
        <p:nvPicPr>
          <p:cNvPr id="291" name="Google Shape;291;g3e6d78a5f59_0_126"/>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F"/>
        </a:solidFill>
      </p:bgPr>
    </p:bg>
    <p:spTree>
      <p:nvGrpSpPr>
        <p:cNvPr id="295" name="Shape 295"/>
        <p:cNvGrpSpPr/>
        <p:nvPr/>
      </p:nvGrpSpPr>
      <p:grpSpPr>
        <a:xfrm>
          <a:off x="0" y="0"/>
          <a:ext cx="0" cy="0"/>
          <a:chOff x="0" y="0"/>
          <a:chExt cx="0" cy="0"/>
        </a:xfrm>
      </p:grpSpPr>
      <p:sp>
        <p:nvSpPr>
          <p:cNvPr id="296" name="Google Shape;296;g3e6d78a5f59_0_189"/>
          <p:cNvSpPr txBox="1"/>
          <p:nvPr>
            <p:ph type="title"/>
          </p:nvPr>
        </p:nvSpPr>
        <p:spPr>
          <a:xfrm>
            <a:off x="850376" y="623275"/>
            <a:ext cx="5561100" cy="23238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15000"/>
              </a:lnSpc>
              <a:spcBef>
                <a:spcPts val="0"/>
              </a:spcBef>
              <a:spcAft>
                <a:spcPts val="0"/>
              </a:spcAft>
              <a:buClr>
                <a:schemeClr val="dk2"/>
              </a:buClr>
              <a:buSzPct val="100000"/>
              <a:buFont typeface="IBM Plex Mono"/>
              <a:buNone/>
            </a:pPr>
            <a:r>
              <a:t/>
            </a:r>
            <a:endParaRPr b="1" sz="4500">
              <a:solidFill>
                <a:schemeClr val="dk2"/>
              </a:solidFill>
              <a:latin typeface="IBM Plex Mono"/>
              <a:ea typeface="IBM Plex Mono"/>
              <a:cs typeface="IBM Plex Mono"/>
              <a:sym typeface="IBM Plex Mono"/>
            </a:endParaRPr>
          </a:p>
          <a:p>
            <a:pPr indent="0" lvl="0" marL="0" rtl="0" algn="l">
              <a:lnSpc>
                <a:spcPct val="115000"/>
              </a:lnSpc>
              <a:spcBef>
                <a:spcPts val="0"/>
              </a:spcBef>
              <a:spcAft>
                <a:spcPts val="0"/>
              </a:spcAft>
              <a:buClr>
                <a:schemeClr val="dk2"/>
              </a:buClr>
              <a:buSzPct val="100000"/>
              <a:buFont typeface="IBM Plex Mono"/>
              <a:buNone/>
            </a:pPr>
            <a:r>
              <a:t/>
            </a:r>
            <a:endParaRPr b="1" sz="4500">
              <a:solidFill>
                <a:schemeClr val="dk2"/>
              </a:solidFill>
              <a:latin typeface="IBM Plex Mono"/>
              <a:ea typeface="IBM Plex Mono"/>
              <a:cs typeface="IBM Plex Mono"/>
              <a:sym typeface="IBM Plex Mono"/>
            </a:endParaRPr>
          </a:p>
          <a:p>
            <a:pPr indent="0" lvl="0" marL="0" rtl="0" algn="l">
              <a:lnSpc>
                <a:spcPct val="115000"/>
              </a:lnSpc>
              <a:spcBef>
                <a:spcPts val="0"/>
              </a:spcBef>
              <a:spcAft>
                <a:spcPts val="0"/>
              </a:spcAft>
              <a:buClr>
                <a:schemeClr val="dk2"/>
              </a:buClr>
              <a:buSzPct val="100000"/>
              <a:buFont typeface="IBM Plex Mono"/>
              <a:buNone/>
            </a:pPr>
            <a:r>
              <a:t/>
            </a:r>
            <a:endParaRPr b="1" sz="4500">
              <a:solidFill>
                <a:schemeClr val="dk2"/>
              </a:solidFill>
              <a:latin typeface="IBM Plex Mono"/>
              <a:ea typeface="IBM Plex Mono"/>
              <a:cs typeface="IBM Plex Mono"/>
              <a:sym typeface="IBM Plex Mono"/>
            </a:endParaRPr>
          </a:p>
          <a:p>
            <a:pPr indent="0" lvl="0" marL="0" rtl="0" algn="l">
              <a:lnSpc>
                <a:spcPct val="115000"/>
              </a:lnSpc>
              <a:spcBef>
                <a:spcPts val="0"/>
              </a:spcBef>
              <a:spcAft>
                <a:spcPts val="0"/>
              </a:spcAft>
              <a:buClr>
                <a:schemeClr val="dk2"/>
              </a:buClr>
              <a:buSzPct val="100000"/>
              <a:buFont typeface="IBM Plex Mono"/>
              <a:buNone/>
            </a:pPr>
            <a:r>
              <a:t/>
            </a:r>
            <a:endParaRPr b="1" sz="4500">
              <a:solidFill>
                <a:schemeClr val="dk2"/>
              </a:solidFill>
              <a:latin typeface="IBM Plex Mono"/>
              <a:ea typeface="IBM Plex Mono"/>
              <a:cs typeface="IBM Plex Mono"/>
              <a:sym typeface="IBM Plex Mono"/>
            </a:endParaRPr>
          </a:p>
          <a:p>
            <a:pPr indent="0" lvl="0" marL="0" rtl="0" algn="l">
              <a:lnSpc>
                <a:spcPct val="115000"/>
              </a:lnSpc>
              <a:spcBef>
                <a:spcPts val="0"/>
              </a:spcBef>
              <a:spcAft>
                <a:spcPts val="0"/>
              </a:spcAft>
              <a:buClr>
                <a:schemeClr val="dk2"/>
              </a:buClr>
              <a:buSzPct val="84906"/>
              <a:buFont typeface="IBM Plex Mono"/>
              <a:buNone/>
            </a:pPr>
            <a:r>
              <a:rPr b="1" lang="en-US" sz="5300">
                <a:solidFill>
                  <a:schemeClr val="dk2"/>
                </a:solidFill>
                <a:latin typeface="Lexend"/>
                <a:ea typeface="Lexend"/>
                <a:cs typeface="Lexend"/>
                <a:sym typeface="Lexend"/>
              </a:rPr>
              <a:t>THANK YOU!</a:t>
            </a:r>
            <a:endParaRPr b="1" sz="5300">
              <a:solidFill>
                <a:schemeClr val="dk2"/>
              </a:solidFill>
              <a:latin typeface="Lexend"/>
              <a:ea typeface="Lexend"/>
              <a:cs typeface="Lexend"/>
              <a:sym typeface="Lexend"/>
            </a:endParaRPr>
          </a:p>
        </p:txBody>
      </p:sp>
      <p:grpSp>
        <p:nvGrpSpPr>
          <p:cNvPr id="297" name="Google Shape;297;g3e6d78a5f59_0_189"/>
          <p:cNvGrpSpPr/>
          <p:nvPr/>
        </p:nvGrpSpPr>
        <p:grpSpPr>
          <a:xfrm>
            <a:off x="1096560" y="3242880"/>
            <a:ext cx="3936540" cy="133500"/>
            <a:chOff x="1096560" y="3242880"/>
            <a:chExt cx="3936540" cy="133500"/>
          </a:xfrm>
        </p:grpSpPr>
        <p:cxnSp>
          <p:nvCxnSpPr>
            <p:cNvPr id="298" name="Google Shape;298;g3e6d78a5f59_0_189"/>
            <p:cNvCxnSpPr/>
            <p:nvPr/>
          </p:nvCxnSpPr>
          <p:spPr>
            <a:xfrm>
              <a:off x="1096560" y="3309840"/>
              <a:ext cx="3841200" cy="300"/>
            </a:xfrm>
            <a:prstGeom prst="straightConnector1">
              <a:avLst/>
            </a:prstGeom>
            <a:noFill/>
            <a:ln cap="flat" cmpd="sng" w="9525">
              <a:solidFill>
                <a:srgbClr val="0C0A9E"/>
              </a:solidFill>
              <a:prstDash val="solid"/>
              <a:round/>
              <a:headEnd len="sm" w="sm" type="none"/>
              <a:tailEnd len="sm" w="sm" type="none"/>
            </a:ln>
          </p:spPr>
        </p:cxnSp>
        <p:grpSp>
          <p:nvGrpSpPr>
            <p:cNvPr id="299" name="Google Shape;299;g3e6d78a5f59_0_189"/>
            <p:cNvGrpSpPr/>
            <p:nvPr/>
          </p:nvGrpSpPr>
          <p:grpSpPr>
            <a:xfrm>
              <a:off x="4899600" y="3242880"/>
              <a:ext cx="133500" cy="133500"/>
              <a:chOff x="4899600" y="3242880"/>
              <a:chExt cx="133500" cy="133500"/>
            </a:xfrm>
          </p:grpSpPr>
          <p:sp>
            <p:nvSpPr>
              <p:cNvPr id="300" name="Google Shape;300;g3e6d78a5f59_0_189"/>
              <p:cNvSpPr/>
              <p:nvPr/>
            </p:nvSpPr>
            <p:spPr>
              <a:xfrm>
                <a:off x="4929480" y="3273120"/>
                <a:ext cx="73500" cy="73500"/>
              </a:xfrm>
              <a:prstGeom prst="ellipse">
                <a:avLst/>
              </a:prstGeom>
              <a:solidFill>
                <a:schemeClr val="dk2"/>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1" name="Google Shape;301;g3e6d78a5f59_0_189"/>
              <p:cNvSpPr/>
              <p:nvPr/>
            </p:nvSpPr>
            <p:spPr>
              <a:xfrm>
                <a:off x="4899600" y="3242880"/>
                <a:ext cx="133500" cy="133500"/>
              </a:xfrm>
              <a:prstGeom prst="ellipse">
                <a:avLst/>
              </a:prstGeom>
              <a:noFill/>
              <a:ln cap="flat" cmpd="sng" w="9525">
                <a:solidFill>
                  <a:srgbClr val="0C0A9E"/>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302" name="Google Shape;302;g3e6d78a5f59_0_189"/>
          <p:cNvGrpSpPr/>
          <p:nvPr/>
        </p:nvGrpSpPr>
        <p:grpSpPr>
          <a:xfrm>
            <a:off x="8017980" y="-313560"/>
            <a:ext cx="133500" cy="1890300"/>
            <a:chOff x="8017980" y="-313560"/>
            <a:chExt cx="133500" cy="1890300"/>
          </a:xfrm>
        </p:grpSpPr>
        <p:sp>
          <p:nvSpPr>
            <p:cNvPr id="303" name="Google Shape;303;g3e6d78a5f59_0_189"/>
            <p:cNvSpPr/>
            <p:nvPr/>
          </p:nvSpPr>
          <p:spPr>
            <a:xfrm rot="5400000">
              <a:off x="8017980" y="1443240"/>
              <a:ext cx="133500" cy="133500"/>
            </a:xfrm>
            <a:prstGeom prst="ellipse">
              <a:avLst/>
            </a:prstGeom>
            <a:noFill/>
            <a:ln cap="flat" cmpd="sng" w="9525">
              <a:solidFill>
                <a:srgbClr val="0C0A9E"/>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cxnSp>
          <p:nvCxnSpPr>
            <p:cNvPr id="304" name="Google Shape;304;g3e6d78a5f59_0_189"/>
            <p:cNvCxnSpPr/>
            <p:nvPr/>
          </p:nvCxnSpPr>
          <p:spPr>
            <a:xfrm>
              <a:off x="8084160" y="-313560"/>
              <a:ext cx="300" cy="1794900"/>
            </a:xfrm>
            <a:prstGeom prst="straightConnector1">
              <a:avLst/>
            </a:prstGeom>
            <a:noFill/>
            <a:ln cap="flat" cmpd="sng" w="9525">
              <a:solidFill>
                <a:srgbClr val="0C0A9E"/>
              </a:solidFill>
              <a:prstDash val="solid"/>
              <a:round/>
              <a:headEnd len="sm" w="sm" type="none"/>
              <a:tailEnd len="sm" w="sm" type="none"/>
            </a:ln>
          </p:spPr>
        </p:cxnSp>
        <p:sp>
          <p:nvSpPr>
            <p:cNvPr id="305" name="Google Shape;305;g3e6d78a5f59_0_189"/>
            <p:cNvSpPr/>
            <p:nvPr/>
          </p:nvSpPr>
          <p:spPr>
            <a:xfrm rot="5400000">
              <a:off x="8047740" y="1473480"/>
              <a:ext cx="73500" cy="73500"/>
            </a:xfrm>
            <a:prstGeom prst="ellipse">
              <a:avLst/>
            </a:prstGeom>
            <a:solidFill>
              <a:schemeClr val="dk2"/>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306" name="Google Shape;306;g3e6d78a5f59_0_189"/>
          <p:cNvGrpSpPr/>
          <p:nvPr/>
        </p:nvGrpSpPr>
        <p:grpSpPr>
          <a:xfrm>
            <a:off x="6309360" y="957600"/>
            <a:ext cx="3504780" cy="5118893"/>
            <a:chOff x="6309360" y="957600"/>
            <a:chExt cx="3504780" cy="5118893"/>
          </a:xfrm>
        </p:grpSpPr>
        <p:sp>
          <p:nvSpPr>
            <p:cNvPr id="307" name="Google Shape;307;g3e6d78a5f59_0_189"/>
            <p:cNvSpPr/>
            <p:nvPr/>
          </p:nvSpPr>
          <p:spPr>
            <a:xfrm>
              <a:off x="6309360" y="957600"/>
              <a:ext cx="3152931" cy="5118893"/>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308" name="Google Shape;308;g3e6d78a5f59_0_189"/>
            <p:cNvGrpSpPr/>
            <p:nvPr/>
          </p:nvGrpSpPr>
          <p:grpSpPr>
            <a:xfrm>
              <a:off x="7728480" y="3644640"/>
              <a:ext cx="133500" cy="133500"/>
              <a:chOff x="7728480" y="3644640"/>
              <a:chExt cx="133500" cy="133500"/>
            </a:xfrm>
          </p:grpSpPr>
          <p:sp>
            <p:nvSpPr>
              <p:cNvPr id="309" name="Google Shape;309;g3e6d78a5f59_0_189"/>
              <p:cNvSpPr/>
              <p:nvPr/>
            </p:nvSpPr>
            <p:spPr>
              <a:xfrm>
                <a:off x="7728480" y="3644640"/>
                <a:ext cx="133500" cy="13350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10" name="Google Shape;310;g3e6d78a5f59_0_189"/>
              <p:cNvSpPr/>
              <p:nvPr/>
            </p:nvSpPr>
            <p:spPr>
              <a:xfrm>
                <a:off x="7747200" y="3663360"/>
                <a:ext cx="95700" cy="9570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311" name="Google Shape;311;g3e6d78a5f59_0_189"/>
            <p:cNvGrpSpPr/>
            <p:nvPr/>
          </p:nvGrpSpPr>
          <p:grpSpPr>
            <a:xfrm>
              <a:off x="7344360" y="3270960"/>
              <a:ext cx="133500" cy="133500"/>
              <a:chOff x="7344360" y="3270960"/>
              <a:chExt cx="133500" cy="133500"/>
            </a:xfrm>
          </p:grpSpPr>
          <p:sp>
            <p:nvSpPr>
              <p:cNvPr id="312" name="Google Shape;312;g3e6d78a5f59_0_189"/>
              <p:cNvSpPr/>
              <p:nvPr/>
            </p:nvSpPr>
            <p:spPr>
              <a:xfrm>
                <a:off x="7344360" y="3270960"/>
                <a:ext cx="133500" cy="13350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13" name="Google Shape;313;g3e6d78a5f59_0_189"/>
              <p:cNvSpPr/>
              <p:nvPr/>
            </p:nvSpPr>
            <p:spPr>
              <a:xfrm>
                <a:off x="7363440" y="3289680"/>
                <a:ext cx="95700" cy="9570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314" name="Google Shape;314;g3e6d78a5f59_0_189"/>
            <p:cNvGrpSpPr/>
            <p:nvPr/>
          </p:nvGrpSpPr>
          <p:grpSpPr>
            <a:xfrm>
              <a:off x="8337960" y="2584440"/>
              <a:ext cx="133500" cy="133500"/>
              <a:chOff x="8337960" y="2584440"/>
              <a:chExt cx="133500" cy="133500"/>
            </a:xfrm>
          </p:grpSpPr>
          <p:sp>
            <p:nvSpPr>
              <p:cNvPr id="315" name="Google Shape;315;g3e6d78a5f59_0_189"/>
              <p:cNvSpPr/>
              <p:nvPr/>
            </p:nvSpPr>
            <p:spPr>
              <a:xfrm>
                <a:off x="8337960" y="2584440"/>
                <a:ext cx="133500" cy="13350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16" name="Google Shape;316;g3e6d78a5f59_0_189"/>
              <p:cNvSpPr/>
              <p:nvPr/>
            </p:nvSpPr>
            <p:spPr>
              <a:xfrm>
                <a:off x="8356680" y="2603520"/>
                <a:ext cx="95700" cy="9570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17" name="Google Shape;317;g3e6d78a5f59_0_189"/>
            <p:cNvSpPr/>
            <p:nvPr/>
          </p:nvSpPr>
          <p:spPr>
            <a:xfrm rot="5400000">
              <a:off x="7687457" y="1143344"/>
              <a:ext cx="1420527" cy="2832839"/>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0C0A9E"/>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pic>
        <p:nvPicPr>
          <p:cNvPr id="318" name="Google Shape;318;g3e6d78a5f59_0_189"/>
          <p:cNvPicPr preferRelativeResize="0"/>
          <p:nvPr/>
        </p:nvPicPr>
        <p:blipFill>
          <a:blip r:embed="rId3">
            <a:alphaModFix/>
          </a:blip>
          <a:stretch>
            <a:fillRect/>
          </a:stretch>
        </p:blipFill>
        <p:spPr>
          <a:xfrm>
            <a:off x="7091850" y="3157800"/>
            <a:ext cx="1985700" cy="1985700"/>
          </a:xfrm>
          <a:prstGeom prst="roundRect">
            <a:avLst>
              <a:gd fmla="val 16667" name="adj"/>
            </a:avLst>
          </a:prstGeom>
          <a:noFill/>
          <a:ln>
            <a:noFill/>
          </a:ln>
        </p:spPr>
      </p:pic>
      <p:sp>
        <p:nvSpPr>
          <p:cNvPr id="319" name="Google Shape;319;g3e6d78a5f59_0_189"/>
          <p:cNvSpPr txBox="1"/>
          <p:nvPr/>
        </p:nvSpPr>
        <p:spPr>
          <a:xfrm>
            <a:off x="1333500" y="3449550"/>
            <a:ext cx="4366200" cy="1402200"/>
          </a:xfrm>
          <a:prstGeom prst="rect">
            <a:avLst/>
          </a:prstGeom>
          <a:noFill/>
          <a:ln>
            <a:noFill/>
          </a:ln>
        </p:spPr>
        <p:txBody>
          <a:bodyPr anchorCtr="0" anchor="b" bIns="91425" lIns="91425" spcFirstLastPara="1" rIns="91425" wrap="square" tIns="91425">
            <a:noAutofit/>
          </a:bodyPr>
          <a:lstStyle/>
          <a:p>
            <a:pPr indent="0" lvl="0" marL="0" marR="0" rtl="0" algn="l">
              <a:lnSpc>
                <a:spcPct val="115000"/>
              </a:lnSpc>
              <a:spcBef>
                <a:spcPts val="0"/>
              </a:spcBef>
              <a:spcAft>
                <a:spcPts val="0"/>
              </a:spcAft>
              <a:buNone/>
            </a:pPr>
            <a:r>
              <a:rPr b="1" lang="en-US" sz="1500">
                <a:solidFill>
                  <a:schemeClr val="dk2"/>
                </a:solidFill>
                <a:latin typeface="Lexend"/>
                <a:ea typeface="Lexend"/>
                <a:cs typeface="Lexend"/>
                <a:sym typeface="Lexend"/>
              </a:rPr>
              <a:t>Team: -</a:t>
            </a:r>
            <a:br>
              <a:rPr b="1" lang="en-US" sz="1500">
                <a:solidFill>
                  <a:schemeClr val="dk2"/>
                </a:solidFill>
                <a:latin typeface="Lexend"/>
                <a:ea typeface="Lexend"/>
                <a:cs typeface="Lexend"/>
                <a:sym typeface="Lexend"/>
              </a:rPr>
            </a:br>
            <a:r>
              <a:rPr b="1" lang="en-US" sz="1500">
                <a:solidFill>
                  <a:schemeClr val="dk2"/>
                </a:solidFill>
                <a:latin typeface="Lexend"/>
                <a:ea typeface="Lexend"/>
                <a:cs typeface="Lexend"/>
                <a:sym typeface="Lexend"/>
              </a:rPr>
              <a:t>Kathan Kotadia</a:t>
            </a:r>
            <a:endParaRPr b="1" sz="1500">
              <a:solidFill>
                <a:schemeClr val="dk2"/>
              </a:solidFill>
              <a:latin typeface="Lexend"/>
              <a:ea typeface="Lexend"/>
              <a:cs typeface="Lexend"/>
              <a:sym typeface="Lexend"/>
            </a:endParaRPr>
          </a:p>
          <a:p>
            <a:pPr indent="0" lvl="0" marL="0" marR="0" rtl="0" algn="l">
              <a:lnSpc>
                <a:spcPct val="115000"/>
              </a:lnSpc>
              <a:spcBef>
                <a:spcPts val="0"/>
              </a:spcBef>
              <a:spcAft>
                <a:spcPts val="0"/>
              </a:spcAft>
              <a:buNone/>
            </a:pPr>
            <a:r>
              <a:rPr b="1" lang="en-US" sz="1500">
                <a:solidFill>
                  <a:schemeClr val="dk2"/>
                </a:solidFill>
                <a:latin typeface="Lexend"/>
                <a:ea typeface="Lexend"/>
                <a:cs typeface="Lexend"/>
                <a:sym typeface="Lexend"/>
              </a:rPr>
              <a:t>Vidhi Vadher</a:t>
            </a:r>
            <a:endParaRPr b="1" sz="1500">
              <a:solidFill>
                <a:schemeClr val="dk2"/>
              </a:solidFill>
              <a:latin typeface="Lexend"/>
              <a:ea typeface="Lexend"/>
              <a:cs typeface="Lexend"/>
              <a:sym typeface="Lexend"/>
            </a:endParaRPr>
          </a:p>
          <a:p>
            <a:pPr indent="0" lvl="0" marL="0" marR="0" rtl="0" algn="l">
              <a:lnSpc>
                <a:spcPct val="115000"/>
              </a:lnSpc>
              <a:spcBef>
                <a:spcPts val="0"/>
              </a:spcBef>
              <a:spcAft>
                <a:spcPts val="0"/>
              </a:spcAft>
              <a:buNone/>
            </a:pPr>
            <a:r>
              <a:rPr b="1" lang="en-US" sz="1500">
                <a:solidFill>
                  <a:schemeClr val="dk2"/>
                </a:solidFill>
                <a:latin typeface="Lexend"/>
                <a:ea typeface="Lexend"/>
                <a:cs typeface="Lexend"/>
                <a:sym typeface="Lexend"/>
              </a:rPr>
              <a:t>Prince Sharma</a:t>
            </a:r>
            <a:endParaRPr b="1" sz="1500">
              <a:solidFill>
                <a:schemeClr val="dk2"/>
              </a:solidFill>
              <a:latin typeface="Lexend"/>
              <a:ea typeface="Lexend"/>
              <a:cs typeface="Lexend"/>
              <a:sym typeface="Lexend"/>
            </a:endParaRPr>
          </a:p>
          <a:p>
            <a:pPr indent="0" lvl="0" marL="0" marR="0" rtl="0" algn="l">
              <a:lnSpc>
                <a:spcPct val="115000"/>
              </a:lnSpc>
              <a:spcBef>
                <a:spcPts val="0"/>
              </a:spcBef>
              <a:spcAft>
                <a:spcPts val="0"/>
              </a:spcAft>
              <a:buNone/>
            </a:pPr>
            <a:r>
              <a:rPr b="1" lang="en-US" sz="1500">
                <a:solidFill>
                  <a:schemeClr val="dk2"/>
                </a:solidFill>
                <a:latin typeface="Lexend"/>
                <a:ea typeface="Lexend"/>
                <a:cs typeface="Lexend"/>
                <a:sym typeface="Lexend"/>
              </a:rPr>
              <a:t>Manish Agarwal</a:t>
            </a:r>
            <a:endParaRPr sz="200"/>
          </a:p>
        </p:txBody>
      </p:sp>
    </p:spTree>
  </p:cSld>
  <p:clrMapOvr>
    <a:masterClrMapping/>
  </p:clrMapOvr>
</p:sld>
</file>

<file path=ppt/theme/theme1.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2026-05-01T04:45:53Z</dcterms:created>
  <dc:creator>Unknown Creator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19.0</vt:r8>
  </property>
</Properties>
</file>